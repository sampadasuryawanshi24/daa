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ACB6F4C-91EC-002C-9B1F-B1A6DA2D648A}">
          <p14:sldIdLst>
            <p14:sldId id="256"/>
            <p14:sldId id="257"/>
          </p14:sldIdLst>
        </p14:section>
        <p14:section name="Algorithm" id="{64D5194C-402B-575E-7918-C8A2D975682B}">
          <p14:sldIdLst>
            <p14:sldId id="258"/>
            <p14:sldId id="259"/>
            <p14:sldId id="260"/>
            <p14:sldId id="261"/>
          </p14:sldIdLst>
        </p14:section>
        <p14:section name="Analysis" id="{B830DCEA-B17A-9057-00CF-A4D86C2CF6DB}">
          <p14:sldIdLst>
            <p14:sldId id="262"/>
          </p14:sldIdLst>
        </p14:section>
        <p14:section name="Conclusion" id="{34C17889-F20E-CB39-7B56-60B3FA751018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10"/>
  </p:normalViewPr>
  <p:slideViewPr>
    <p:cSldViewPr snapToGrid="0" snapToObjects="1">
      <p:cViewPr>
        <p:scale>
          <a:sx n="69" d="100"/>
          <a:sy n="69" d="100"/>
        </p:scale>
        <p:origin x="56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6463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The same 7-element array is used throughout this deck: [38, 27, 43, 3, 9, 82, 10].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 sort divides the array, sorts each half recursively, then merges the sorted halves.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Recursion tree for [38, 27, 43, 3, 9, 82, 10]. The left half gets 4 elements and the right half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stage splits every subarray at the midpoint. A single element is already sorted, so recursion stops.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Merging walks two pointers, one per sorted array, always taking the smaller front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recursive pseudocode. Right: the same logic as a flowchart. The YES branch is the base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Recurrence T(n) = 2T(n/2) + O(n) solves to O(n log n) by the Master theorem (case 2). Space is O(n) for the temporary merge arrays.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Applications and conclusion. Merge sort is stable and guarantees O(n log n) in every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14400"/>
            <a:ext cx="5394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144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MERGE SORT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5EEAD4"/>
                </a:solidFill>
              </a:rPr>
              <a:t>A Divide and Conquer Approach to Sorting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5303520" cy="2382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Design and Analysis of Algorithms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CBD5E1"/>
                </a:solidFill>
              </a:rPr>
              <a:t>B.Tech CSE — Semester III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CBD5E1"/>
                </a:solidFill>
              </a:rPr>
              <a:t>Symbiosis Institute of Technology, Nagpur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5EEAD4"/>
                </a:solidFill>
              </a:rPr>
              <a:t>Presented by: Sampada Suryawanshi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b="1" dirty="0">
                <a:solidFill>
                  <a:srgbClr val="5EEAD4"/>
                </a:solidFill>
              </a:rPr>
              <a:t>PRN : 25070521012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b="1" dirty="0">
                <a:solidFill>
                  <a:srgbClr val="5EEAD4"/>
                </a:solidFill>
              </a:rPr>
              <a:t>Made with </a:t>
            </a:r>
            <a:r>
              <a:rPr lang="en-US" b="1" dirty="0" err="1">
                <a:solidFill>
                  <a:srgbClr val="5EEAD4"/>
                </a:solidFill>
              </a:rPr>
              <a:t>claudeai</a:t>
            </a:r>
            <a:endParaRPr lang="en-US" b="1" dirty="0">
              <a:solidFill>
                <a:srgbClr val="5EEAD4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126480" y="822960"/>
            <a:ext cx="5577840" cy="5029200"/>
          </a:xfrm>
          <a:prstGeom prst="roundRect">
            <a:avLst>
              <a:gd name="adj" fmla="val 2727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91072" y="1097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BD5E1"/>
                </a:solidFill>
              </a:rPr>
              <a:t>UNSORTED INPUT</a:t>
            </a:r>
            <a:endParaRPr lang="en-US" sz="1400" dirty="0"/>
          </a:p>
        </p:txBody>
      </p:sp>
      <p:sp>
        <p:nvSpPr>
          <p:cNvPr id="7" name="Cell 38"/>
          <p:cNvSpPr txBox="1"/>
          <p:nvPr/>
        </p:nvSpPr>
        <p:spPr>
          <a:xfrm>
            <a:off x="6291072" y="1508760"/>
            <a:ext cx="749808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</a:rPr>
              <a:t>38</a:t>
            </a:r>
            <a:endParaRPr lang="en-US" sz="2400" dirty="0"/>
          </a:p>
        </p:txBody>
      </p:sp>
      <p:sp>
        <p:nvSpPr>
          <p:cNvPr id="8" name="Cell 27"/>
          <p:cNvSpPr txBox="1"/>
          <p:nvPr/>
        </p:nvSpPr>
        <p:spPr>
          <a:xfrm>
            <a:off x="7040880" y="1508760"/>
            <a:ext cx="749808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</a:rPr>
              <a:t>27</a:t>
            </a:r>
            <a:endParaRPr lang="en-US" sz="2400" dirty="0"/>
          </a:p>
        </p:txBody>
      </p:sp>
      <p:sp>
        <p:nvSpPr>
          <p:cNvPr id="9" name="Cell 43"/>
          <p:cNvSpPr txBox="1"/>
          <p:nvPr/>
        </p:nvSpPr>
        <p:spPr>
          <a:xfrm>
            <a:off x="7790688" y="1508760"/>
            <a:ext cx="749808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</a:rPr>
              <a:t>43</a:t>
            </a:r>
            <a:endParaRPr lang="en-US" sz="2400" dirty="0"/>
          </a:p>
        </p:txBody>
      </p:sp>
      <p:sp>
        <p:nvSpPr>
          <p:cNvPr id="10" name="Cell 3"/>
          <p:cNvSpPr txBox="1"/>
          <p:nvPr/>
        </p:nvSpPr>
        <p:spPr>
          <a:xfrm>
            <a:off x="8540496" y="1508760"/>
            <a:ext cx="749808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Cell 9"/>
          <p:cNvSpPr txBox="1"/>
          <p:nvPr/>
        </p:nvSpPr>
        <p:spPr>
          <a:xfrm>
            <a:off x="9290304" y="1508760"/>
            <a:ext cx="749808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</a:rPr>
              <a:t>9</a:t>
            </a:r>
            <a:endParaRPr lang="en-US" sz="2400" dirty="0"/>
          </a:p>
        </p:txBody>
      </p:sp>
      <p:sp>
        <p:nvSpPr>
          <p:cNvPr id="12" name="Cell 82"/>
          <p:cNvSpPr txBox="1"/>
          <p:nvPr/>
        </p:nvSpPr>
        <p:spPr>
          <a:xfrm>
            <a:off x="10040112" y="1508760"/>
            <a:ext cx="749808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</a:rPr>
              <a:t>82</a:t>
            </a:r>
            <a:endParaRPr lang="en-US" sz="2400" dirty="0"/>
          </a:p>
        </p:txBody>
      </p:sp>
      <p:sp>
        <p:nvSpPr>
          <p:cNvPr id="13" name="Cell 10"/>
          <p:cNvSpPr txBox="1"/>
          <p:nvPr/>
        </p:nvSpPr>
        <p:spPr>
          <a:xfrm>
            <a:off x="10789920" y="1508760"/>
            <a:ext cx="749808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</a:rPr>
              <a:t>10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458200" y="2560320"/>
            <a:ext cx="914400" cy="1371600"/>
          </a:xfrm>
          <a:prstGeom prst="down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5548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Merge Sort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91072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EEAD4"/>
                </a:solidFill>
              </a:rPr>
              <a:t>SORTED OUTPUT</a:t>
            </a:r>
            <a:endParaRPr lang="en-US" sz="1400" dirty="0"/>
          </a:p>
        </p:txBody>
      </p:sp>
      <p:sp>
        <p:nvSpPr>
          <p:cNvPr id="17" name="Cell 3"/>
          <p:cNvSpPr txBox="1"/>
          <p:nvPr/>
        </p:nvSpPr>
        <p:spPr>
          <a:xfrm>
            <a:off x="6291072" y="4572000"/>
            <a:ext cx="749808" cy="74980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</a:rPr>
              <a:t>3</a:t>
            </a:r>
            <a:endParaRPr lang="en-US" sz="2400" dirty="0"/>
          </a:p>
        </p:txBody>
      </p:sp>
      <p:sp>
        <p:nvSpPr>
          <p:cNvPr id="18" name="Cell 9"/>
          <p:cNvSpPr txBox="1"/>
          <p:nvPr/>
        </p:nvSpPr>
        <p:spPr>
          <a:xfrm>
            <a:off x="7040880" y="4572000"/>
            <a:ext cx="749808" cy="74980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</a:rPr>
              <a:t>9</a:t>
            </a:r>
            <a:endParaRPr lang="en-US" sz="2400" dirty="0"/>
          </a:p>
        </p:txBody>
      </p:sp>
      <p:sp>
        <p:nvSpPr>
          <p:cNvPr id="19" name="Cell 10"/>
          <p:cNvSpPr txBox="1"/>
          <p:nvPr/>
        </p:nvSpPr>
        <p:spPr>
          <a:xfrm>
            <a:off x="7790688" y="4572000"/>
            <a:ext cx="749808" cy="74980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</a:rPr>
              <a:t>10</a:t>
            </a:r>
            <a:endParaRPr lang="en-US" sz="2400" dirty="0"/>
          </a:p>
        </p:txBody>
      </p:sp>
      <p:sp>
        <p:nvSpPr>
          <p:cNvPr id="20" name="Cell 27"/>
          <p:cNvSpPr txBox="1"/>
          <p:nvPr/>
        </p:nvSpPr>
        <p:spPr>
          <a:xfrm>
            <a:off x="8540496" y="4572000"/>
            <a:ext cx="749808" cy="74980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</a:rPr>
              <a:t>27</a:t>
            </a:r>
            <a:endParaRPr lang="en-US" sz="2400" dirty="0"/>
          </a:p>
        </p:txBody>
      </p:sp>
      <p:sp>
        <p:nvSpPr>
          <p:cNvPr id="21" name="Cell 38"/>
          <p:cNvSpPr txBox="1"/>
          <p:nvPr/>
        </p:nvSpPr>
        <p:spPr>
          <a:xfrm>
            <a:off x="9290304" y="4572000"/>
            <a:ext cx="749808" cy="74980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</a:rPr>
              <a:t>38</a:t>
            </a:r>
            <a:endParaRPr lang="en-US" sz="2400" dirty="0"/>
          </a:p>
        </p:txBody>
      </p:sp>
      <p:sp>
        <p:nvSpPr>
          <p:cNvPr id="22" name="Cell 43"/>
          <p:cNvSpPr txBox="1"/>
          <p:nvPr/>
        </p:nvSpPr>
        <p:spPr>
          <a:xfrm>
            <a:off x="10040112" y="4572000"/>
            <a:ext cx="749808" cy="74980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</a:rPr>
              <a:t>43</a:t>
            </a:r>
            <a:endParaRPr lang="en-US" sz="2400" dirty="0"/>
          </a:p>
        </p:txBody>
      </p:sp>
      <p:sp>
        <p:nvSpPr>
          <p:cNvPr id="23" name="Cell 82"/>
          <p:cNvSpPr txBox="1"/>
          <p:nvPr/>
        </p:nvSpPr>
        <p:spPr>
          <a:xfrm>
            <a:off x="10789920" y="4572000"/>
            <a:ext cx="749808" cy="74980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</a:rPr>
              <a:t>82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Understanding Merge Sort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429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30175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</a:rPr>
              <a:t>Comparison-based sorting algorithm.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</a:rPr>
              <a:t>Follows the Divide and Conquer paradigm.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</a:rPr>
              <a:t>Divides the array into smaller subarrays.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</a:rPr>
              <a:t>Recursively sorts and merges them.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</a:rPr>
              <a:t>Time complexity: O(n log n).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60520" y="1371600"/>
            <a:ext cx="2286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60520" y="1371600"/>
            <a:ext cx="2286000" cy="5486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DIVIDE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5074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75569"/>
                </a:solidFill>
              </a:rPr>
              <a:t>Split the array into two halves</a:t>
            </a:r>
            <a:endParaRPr lang="en-US" sz="1500" dirty="0"/>
          </a:p>
        </p:txBody>
      </p:sp>
      <p:sp>
        <p:nvSpPr>
          <p:cNvPr id="8" name="Cell 38"/>
          <p:cNvSpPr txBox="1"/>
          <p:nvPr/>
        </p:nvSpPr>
        <p:spPr>
          <a:xfrm>
            <a:off x="434340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38</a:t>
            </a:r>
            <a:endParaRPr lang="en-US" sz="1100" dirty="0"/>
          </a:p>
        </p:txBody>
      </p:sp>
      <p:sp>
        <p:nvSpPr>
          <p:cNvPr id="9" name="Cell 27"/>
          <p:cNvSpPr txBox="1"/>
          <p:nvPr/>
        </p:nvSpPr>
        <p:spPr>
          <a:xfrm>
            <a:off x="461772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27</a:t>
            </a:r>
            <a:endParaRPr lang="en-US" sz="1100" dirty="0"/>
          </a:p>
        </p:txBody>
      </p:sp>
      <p:sp>
        <p:nvSpPr>
          <p:cNvPr id="10" name="Cell 43"/>
          <p:cNvSpPr txBox="1"/>
          <p:nvPr/>
        </p:nvSpPr>
        <p:spPr>
          <a:xfrm>
            <a:off x="489204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43</a:t>
            </a:r>
            <a:endParaRPr lang="en-US" sz="1100" dirty="0"/>
          </a:p>
        </p:txBody>
      </p:sp>
      <p:sp>
        <p:nvSpPr>
          <p:cNvPr id="11" name="Cell 3"/>
          <p:cNvSpPr txBox="1"/>
          <p:nvPr/>
        </p:nvSpPr>
        <p:spPr>
          <a:xfrm>
            <a:off x="516636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3</a:t>
            </a:r>
            <a:endParaRPr lang="en-US" sz="1100" dirty="0"/>
          </a:p>
        </p:txBody>
      </p:sp>
      <p:sp>
        <p:nvSpPr>
          <p:cNvPr id="12" name="Cell 9"/>
          <p:cNvSpPr txBox="1"/>
          <p:nvPr/>
        </p:nvSpPr>
        <p:spPr>
          <a:xfrm>
            <a:off x="544068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9</a:t>
            </a:r>
            <a:endParaRPr lang="en-US" sz="1100" dirty="0"/>
          </a:p>
        </p:txBody>
      </p:sp>
      <p:sp>
        <p:nvSpPr>
          <p:cNvPr id="13" name="Cell 82"/>
          <p:cNvSpPr txBox="1"/>
          <p:nvPr/>
        </p:nvSpPr>
        <p:spPr>
          <a:xfrm>
            <a:off x="571500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82</a:t>
            </a:r>
            <a:endParaRPr lang="en-US" sz="1100" dirty="0"/>
          </a:p>
        </p:txBody>
      </p:sp>
      <p:sp>
        <p:nvSpPr>
          <p:cNvPr id="14" name="Cell 10"/>
          <p:cNvSpPr txBox="1"/>
          <p:nvPr/>
        </p:nvSpPr>
        <p:spPr>
          <a:xfrm>
            <a:off x="598932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10</a:t>
            </a:r>
            <a:endParaRPr lang="en-US" sz="1100" dirty="0"/>
          </a:p>
        </p:txBody>
      </p:sp>
      <p:sp>
        <p:nvSpPr>
          <p:cNvPr id="15" name="Cell 38"/>
          <p:cNvSpPr txBox="1"/>
          <p:nvPr/>
        </p:nvSpPr>
        <p:spPr>
          <a:xfrm>
            <a:off x="4229100" y="39319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38</a:t>
            </a:r>
            <a:endParaRPr lang="en-US" sz="1100" dirty="0"/>
          </a:p>
        </p:txBody>
      </p:sp>
      <p:sp>
        <p:nvSpPr>
          <p:cNvPr id="16" name="Cell 27"/>
          <p:cNvSpPr txBox="1"/>
          <p:nvPr/>
        </p:nvSpPr>
        <p:spPr>
          <a:xfrm>
            <a:off x="4503420" y="39319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27</a:t>
            </a:r>
            <a:endParaRPr lang="en-US" sz="1100" dirty="0"/>
          </a:p>
        </p:txBody>
      </p:sp>
      <p:sp>
        <p:nvSpPr>
          <p:cNvPr id="17" name="Cell 43"/>
          <p:cNvSpPr txBox="1"/>
          <p:nvPr/>
        </p:nvSpPr>
        <p:spPr>
          <a:xfrm>
            <a:off x="4777740" y="39319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43</a:t>
            </a:r>
            <a:endParaRPr lang="en-US" sz="1100" dirty="0"/>
          </a:p>
        </p:txBody>
      </p:sp>
      <p:sp>
        <p:nvSpPr>
          <p:cNvPr id="18" name="Cell 3"/>
          <p:cNvSpPr txBox="1"/>
          <p:nvPr/>
        </p:nvSpPr>
        <p:spPr>
          <a:xfrm>
            <a:off x="5052060" y="39319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Cell 9"/>
          <p:cNvSpPr txBox="1"/>
          <p:nvPr/>
        </p:nvSpPr>
        <p:spPr>
          <a:xfrm>
            <a:off x="5554980" y="39319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9</a:t>
            </a:r>
            <a:endParaRPr lang="en-US" sz="1100" dirty="0"/>
          </a:p>
        </p:txBody>
      </p:sp>
      <p:sp>
        <p:nvSpPr>
          <p:cNvPr id="20" name="Cell 82"/>
          <p:cNvSpPr txBox="1"/>
          <p:nvPr/>
        </p:nvSpPr>
        <p:spPr>
          <a:xfrm>
            <a:off x="5829300" y="39319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82</a:t>
            </a:r>
            <a:endParaRPr lang="en-US" sz="1100" dirty="0"/>
          </a:p>
        </p:txBody>
      </p:sp>
      <p:sp>
        <p:nvSpPr>
          <p:cNvPr id="21" name="Cell 10"/>
          <p:cNvSpPr txBox="1"/>
          <p:nvPr/>
        </p:nvSpPr>
        <p:spPr>
          <a:xfrm>
            <a:off x="6103620" y="39319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10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H="1">
            <a:off x="4777740" y="2670048"/>
            <a:ext cx="114300" cy="123444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715000" y="2670048"/>
            <a:ext cx="251460" cy="123444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297680" y="4526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75569"/>
                </a:solidFill>
              </a:rPr>
              <a:t>…until size 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73952" y="4087368"/>
            <a:ext cx="310896" cy="0"/>
          </a:xfrm>
          <a:prstGeom prst="line">
            <a:avLst/>
          </a:prstGeom>
          <a:noFill/>
          <a:ln w="635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812280" y="1371600"/>
            <a:ext cx="2286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12280" y="1371600"/>
            <a:ext cx="2286000" cy="5486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CONQUER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5074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75569"/>
                </a:solidFill>
              </a:rPr>
              <a:t>Recursively sort each half</a:t>
            </a:r>
            <a:endParaRPr lang="en-US" sz="1500" dirty="0"/>
          </a:p>
        </p:txBody>
      </p:sp>
      <p:sp>
        <p:nvSpPr>
          <p:cNvPr id="29" name="Cell 38"/>
          <p:cNvSpPr txBox="1"/>
          <p:nvPr/>
        </p:nvSpPr>
        <p:spPr>
          <a:xfrm>
            <a:off x="688086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38</a:t>
            </a:r>
            <a:endParaRPr lang="en-US" sz="1100" dirty="0"/>
          </a:p>
        </p:txBody>
      </p:sp>
      <p:sp>
        <p:nvSpPr>
          <p:cNvPr id="30" name="Cell 27"/>
          <p:cNvSpPr txBox="1"/>
          <p:nvPr/>
        </p:nvSpPr>
        <p:spPr>
          <a:xfrm>
            <a:off x="715518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27</a:t>
            </a:r>
            <a:endParaRPr lang="en-US" sz="1100" dirty="0"/>
          </a:p>
        </p:txBody>
      </p:sp>
      <p:sp>
        <p:nvSpPr>
          <p:cNvPr id="31" name="Cell 43"/>
          <p:cNvSpPr txBox="1"/>
          <p:nvPr/>
        </p:nvSpPr>
        <p:spPr>
          <a:xfrm>
            <a:off x="742950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43</a:t>
            </a:r>
            <a:endParaRPr lang="en-US" sz="1100" dirty="0"/>
          </a:p>
        </p:txBody>
      </p:sp>
      <p:sp>
        <p:nvSpPr>
          <p:cNvPr id="32" name="Cell 3"/>
          <p:cNvSpPr txBox="1"/>
          <p:nvPr/>
        </p:nvSpPr>
        <p:spPr>
          <a:xfrm>
            <a:off x="770382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3</a:t>
            </a:r>
            <a:endParaRPr lang="en-US" sz="1100" dirty="0"/>
          </a:p>
        </p:txBody>
      </p:sp>
      <p:sp>
        <p:nvSpPr>
          <p:cNvPr id="33" name="Cell 9"/>
          <p:cNvSpPr txBox="1"/>
          <p:nvPr/>
        </p:nvSpPr>
        <p:spPr>
          <a:xfrm>
            <a:off x="820674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9</a:t>
            </a:r>
            <a:endParaRPr lang="en-US" sz="1100" dirty="0"/>
          </a:p>
        </p:txBody>
      </p:sp>
      <p:sp>
        <p:nvSpPr>
          <p:cNvPr id="34" name="Cell 82"/>
          <p:cNvSpPr txBox="1"/>
          <p:nvPr/>
        </p:nvSpPr>
        <p:spPr>
          <a:xfrm>
            <a:off x="848106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82</a:t>
            </a:r>
            <a:endParaRPr lang="en-US" sz="1100" dirty="0"/>
          </a:p>
        </p:txBody>
      </p:sp>
      <p:sp>
        <p:nvSpPr>
          <p:cNvPr id="35" name="Cell 10"/>
          <p:cNvSpPr txBox="1"/>
          <p:nvPr/>
        </p:nvSpPr>
        <p:spPr>
          <a:xfrm>
            <a:off x="875538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10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29500" y="2670048"/>
            <a:ext cx="0" cy="123444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618220" y="2670048"/>
            <a:ext cx="0" cy="123444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6995160" y="2926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F766E"/>
                </a:solidFill>
              </a:rPr>
              <a:t>sort</a:t>
            </a:r>
            <a:endParaRPr lang="en-US" sz="1300" dirty="0"/>
          </a:p>
        </p:txBody>
      </p:sp>
      <p:sp>
        <p:nvSpPr>
          <p:cNvPr id="39" name="Cell 3"/>
          <p:cNvSpPr txBox="1"/>
          <p:nvPr/>
        </p:nvSpPr>
        <p:spPr>
          <a:xfrm>
            <a:off x="6880860" y="39319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3</a:t>
            </a:r>
            <a:endParaRPr lang="en-US" sz="1100" dirty="0"/>
          </a:p>
        </p:txBody>
      </p:sp>
      <p:sp>
        <p:nvSpPr>
          <p:cNvPr id="40" name="Cell 27"/>
          <p:cNvSpPr txBox="1"/>
          <p:nvPr/>
        </p:nvSpPr>
        <p:spPr>
          <a:xfrm>
            <a:off x="7155180" y="39319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27</a:t>
            </a:r>
            <a:endParaRPr lang="en-US" sz="1100" dirty="0"/>
          </a:p>
        </p:txBody>
      </p:sp>
      <p:sp>
        <p:nvSpPr>
          <p:cNvPr id="41" name="Cell 38"/>
          <p:cNvSpPr txBox="1"/>
          <p:nvPr/>
        </p:nvSpPr>
        <p:spPr>
          <a:xfrm>
            <a:off x="7429500" y="39319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38</a:t>
            </a:r>
            <a:endParaRPr lang="en-US" sz="1100" dirty="0"/>
          </a:p>
        </p:txBody>
      </p:sp>
      <p:sp>
        <p:nvSpPr>
          <p:cNvPr id="42" name="Cell 43"/>
          <p:cNvSpPr txBox="1"/>
          <p:nvPr/>
        </p:nvSpPr>
        <p:spPr>
          <a:xfrm>
            <a:off x="7703820" y="39319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43</a:t>
            </a:r>
            <a:endParaRPr lang="en-US" sz="1100" dirty="0"/>
          </a:p>
        </p:txBody>
      </p:sp>
      <p:sp>
        <p:nvSpPr>
          <p:cNvPr id="43" name="Cell 9"/>
          <p:cNvSpPr txBox="1"/>
          <p:nvPr/>
        </p:nvSpPr>
        <p:spPr>
          <a:xfrm>
            <a:off x="8206740" y="39319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9</a:t>
            </a:r>
            <a:endParaRPr lang="en-US" sz="1100" dirty="0"/>
          </a:p>
        </p:txBody>
      </p:sp>
      <p:sp>
        <p:nvSpPr>
          <p:cNvPr id="44" name="Cell 10"/>
          <p:cNvSpPr txBox="1"/>
          <p:nvPr/>
        </p:nvSpPr>
        <p:spPr>
          <a:xfrm>
            <a:off x="8481060" y="39319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10</a:t>
            </a:r>
            <a:endParaRPr lang="en-US" sz="1100" dirty="0"/>
          </a:p>
        </p:txBody>
      </p:sp>
      <p:sp>
        <p:nvSpPr>
          <p:cNvPr id="45" name="Cell 82"/>
          <p:cNvSpPr txBox="1"/>
          <p:nvPr/>
        </p:nvSpPr>
        <p:spPr>
          <a:xfrm>
            <a:off x="8755380" y="39319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82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125712" y="4087368"/>
            <a:ext cx="310896" cy="0"/>
          </a:xfrm>
          <a:prstGeom prst="line">
            <a:avLst/>
          </a:prstGeom>
          <a:noFill/>
          <a:ln w="635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464040" y="1371600"/>
            <a:ext cx="2286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464040" y="1371600"/>
            <a:ext cx="2286000" cy="5486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MERGE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9601200" y="5074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75569"/>
                </a:solidFill>
              </a:rPr>
              <a:t>Merge sorted halves into one sorted array</a:t>
            </a:r>
            <a:endParaRPr lang="en-US" sz="1500" dirty="0"/>
          </a:p>
        </p:txBody>
      </p:sp>
      <p:sp>
        <p:nvSpPr>
          <p:cNvPr id="50" name="Cell 3"/>
          <p:cNvSpPr txBox="1"/>
          <p:nvPr/>
        </p:nvSpPr>
        <p:spPr>
          <a:xfrm>
            <a:off x="9532620" y="23317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3</a:t>
            </a:r>
            <a:endParaRPr lang="en-US" sz="1100" dirty="0"/>
          </a:p>
        </p:txBody>
      </p:sp>
      <p:sp>
        <p:nvSpPr>
          <p:cNvPr id="51" name="Cell 27"/>
          <p:cNvSpPr txBox="1"/>
          <p:nvPr/>
        </p:nvSpPr>
        <p:spPr>
          <a:xfrm>
            <a:off x="9806940" y="23317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27</a:t>
            </a:r>
            <a:endParaRPr lang="en-US" sz="1100" dirty="0"/>
          </a:p>
        </p:txBody>
      </p:sp>
      <p:sp>
        <p:nvSpPr>
          <p:cNvPr id="52" name="Cell 38"/>
          <p:cNvSpPr txBox="1"/>
          <p:nvPr/>
        </p:nvSpPr>
        <p:spPr>
          <a:xfrm>
            <a:off x="10081260" y="23317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38</a:t>
            </a:r>
            <a:endParaRPr lang="en-US" sz="1100" dirty="0"/>
          </a:p>
        </p:txBody>
      </p:sp>
      <p:sp>
        <p:nvSpPr>
          <p:cNvPr id="53" name="Cell 43"/>
          <p:cNvSpPr txBox="1"/>
          <p:nvPr/>
        </p:nvSpPr>
        <p:spPr>
          <a:xfrm>
            <a:off x="10355580" y="23317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43</a:t>
            </a:r>
            <a:endParaRPr lang="en-US" sz="1100" dirty="0"/>
          </a:p>
        </p:txBody>
      </p:sp>
      <p:sp>
        <p:nvSpPr>
          <p:cNvPr id="54" name="Cell 9"/>
          <p:cNvSpPr txBox="1"/>
          <p:nvPr/>
        </p:nvSpPr>
        <p:spPr>
          <a:xfrm>
            <a:off x="10858500" y="23317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9</a:t>
            </a:r>
            <a:endParaRPr lang="en-US" sz="1100" dirty="0"/>
          </a:p>
        </p:txBody>
      </p:sp>
      <p:sp>
        <p:nvSpPr>
          <p:cNvPr id="55" name="Cell 10"/>
          <p:cNvSpPr txBox="1"/>
          <p:nvPr/>
        </p:nvSpPr>
        <p:spPr>
          <a:xfrm>
            <a:off x="11132820" y="23317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10</a:t>
            </a:r>
            <a:endParaRPr lang="en-US" sz="1100" dirty="0"/>
          </a:p>
        </p:txBody>
      </p:sp>
      <p:sp>
        <p:nvSpPr>
          <p:cNvPr id="56" name="Cell 82"/>
          <p:cNvSpPr txBox="1"/>
          <p:nvPr/>
        </p:nvSpPr>
        <p:spPr>
          <a:xfrm>
            <a:off x="11407140" y="23317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82</a:t>
            </a:r>
            <a:endParaRPr lang="en-US" sz="1100" dirty="0"/>
          </a:p>
        </p:txBody>
      </p:sp>
      <p:sp>
        <p:nvSpPr>
          <p:cNvPr id="57" name="Cell 3"/>
          <p:cNvSpPr txBox="1"/>
          <p:nvPr/>
        </p:nvSpPr>
        <p:spPr>
          <a:xfrm>
            <a:off x="9646920" y="3931920"/>
            <a:ext cx="274320" cy="310896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3</a:t>
            </a:r>
            <a:endParaRPr lang="en-US" sz="1100" dirty="0"/>
          </a:p>
        </p:txBody>
      </p:sp>
      <p:sp>
        <p:nvSpPr>
          <p:cNvPr id="58" name="Cell 9"/>
          <p:cNvSpPr txBox="1"/>
          <p:nvPr/>
        </p:nvSpPr>
        <p:spPr>
          <a:xfrm>
            <a:off x="9921240" y="3931920"/>
            <a:ext cx="274320" cy="310896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9</a:t>
            </a:r>
            <a:endParaRPr lang="en-US" sz="1100" dirty="0"/>
          </a:p>
        </p:txBody>
      </p:sp>
      <p:sp>
        <p:nvSpPr>
          <p:cNvPr id="59" name="Cell 10"/>
          <p:cNvSpPr txBox="1"/>
          <p:nvPr/>
        </p:nvSpPr>
        <p:spPr>
          <a:xfrm>
            <a:off x="10195560" y="3931920"/>
            <a:ext cx="274320" cy="310896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10</a:t>
            </a:r>
            <a:endParaRPr lang="en-US" sz="1100" dirty="0"/>
          </a:p>
        </p:txBody>
      </p:sp>
      <p:sp>
        <p:nvSpPr>
          <p:cNvPr id="60" name="Cell 27"/>
          <p:cNvSpPr txBox="1"/>
          <p:nvPr/>
        </p:nvSpPr>
        <p:spPr>
          <a:xfrm>
            <a:off x="10469880" y="3931920"/>
            <a:ext cx="274320" cy="310896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27</a:t>
            </a:r>
            <a:endParaRPr lang="en-US" sz="1100" dirty="0"/>
          </a:p>
        </p:txBody>
      </p:sp>
      <p:sp>
        <p:nvSpPr>
          <p:cNvPr id="61" name="Cell 38"/>
          <p:cNvSpPr txBox="1"/>
          <p:nvPr/>
        </p:nvSpPr>
        <p:spPr>
          <a:xfrm>
            <a:off x="10744200" y="3931920"/>
            <a:ext cx="274320" cy="310896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38</a:t>
            </a:r>
            <a:endParaRPr lang="en-US" sz="1100" dirty="0"/>
          </a:p>
        </p:txBody>
      </p:sp>
      <p:sp>
        <p:nvSpPr>
          <p:cNvPr id="62" name="Cell 43"/>
          <p:cNvSpPr txBox="1"/>
          <p:nvPr/>
        </p:nvSpPr>
        <p:spPr>
          <a:xfrm>
            <a:off x="11018520" y="3931920"/>
            <a:ext cx="274320" cy="310896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43</a:t>
            </a:r>
            <a:endParaRPr lang="en-US" sz="1100" dirty="0"/>
          </a:p>
        </p:txBody>
      </p:sp>
      <p:sp>
        <p:nvSpPr>
          <p:cNvPr id="63" name="Cell 82"/>
          <p:cNvSpPr txBox="1"/>
          <p:nvPr/>
        </p:nvSpPr>
        <p:spPr>
          <a:xfrm>
            <a:off x="11292840" y="3931920"/>
            <a:ext cx="274320" cy="310896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82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0081260" y="2670048"/>
            <a:ext cx="114300" cy="123444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 flipH="1">
            <a:off x="11018520" y="2670048"/>
            <a:ext cx="251460" cy="123444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How the Algorithm Divides the Array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</a:rPr>
              <a:t>Root (n = 7)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14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</a:rPr>
              <a:t>Level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03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</a:rPr>
              <a:t>Level 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92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</a:rPr>
              <a:t>Level 3 (size 1)</a:t>
            </a:r>
            <a:endParaRPr lang="en-US" sz="1300" dirty="0"/>
          </a:p>
        </p:txBody>
      </p:sp>
      <p:sp>
        <p:nvSpPr>
          <p:cNvPr id="7" name="Cell 38"/>
          <p:cNvSpPr txBox="1"/>
          <p:nvPr/>
        </p:nvSpPr>
        <p:spPr>
          <a:xfrm>
            <a:off x="4046220" y="132588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38</a:t>
            </a:r>
            <a:endParaRPr lang="en-US" sz="2200" dirty="0"/>
          </a:p>
        </p:txBody>
      </p:sp>
      <p:sp>
        <p:nvSpPr>
          <p:cNvPr id="8" name="Cell 27"/>
          <p:cNvSpPr txBox="1"/>
          <p:nvPr/>
        </p:nvSpPr>
        <p:spPr>
          <a:xfrm>
            <a:off x="4777740" y="132588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27</a:t>
            </a:r>
            <a:endParaRPr lang="en-US" sz="2200" dirty="0"/>
          </a:p>
        </p:txBody>
      </p:sp>
      <p:sp>
        <p:nvSpPr>
          <p:cNvPr id="9" name="Cell 43"/>
          <p:cNvSpPr txBox="1"/>
          <p:nvPr/>
        </p:nvSpPr>
        <p:spPr>
          <a:xfrm>
            <a:off x="5509260" y="132588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43</a:t>
            </a:r>
            <a:endParaRPr lang="en-US" sz="2200" dirty="0"/>
          </a:p>
        </p:txBody>
      </p:sp>
      <p:sp>
        <p:nvSpPr>
          <p:cNvPr id="10" name="Cell 3"/>
          <p:cNvSpPr txBox="1"/>
          <p:nvPr/>
        </p:nvSpPr>
        <p:spPr>
          <a:xfrm>
            <a:off x="6240780" y="132588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Cell 9"/>
          <p:cNvSpPr txBox="1"/>
          <p:nvPr/>
        </p:nvSpPr>
        <p:spPr>
          <a:xfrm>
            <a:off x="6972300" y="132588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9</a:t>
            </a:r>
            <a:endParaRPr lang="en-US" sz="2200" dirty="0"/>
          </a:p>
        </p:txBody>
      </p:sp>
      <p:sp>
        <p:nvSpPr>
          <p:cNvPr id="12" name="Cell 82"/>
          <p:cNvSpPr txBox="1"/>
          <p:nvPr/>
        </p:nvSpPr>
        <p:spPr>
          <a:xfrm>
            <a:off x="7703820" y="132588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82</a:t>
            </a:r>
            <a:endParaRPr lang="en-US" sz="2200" dirty="0"/>
          </a:p>
        </p:txBody>
      </p:sp>
      <p:sp>
        <p:nvSpPr>
          <p:cNvPr id="13" name="Cell 10"/>
          <p:cNvSpPr txBox="1"/>
          <p:nvPr/>
        </p:nvSpPr>
        <p:spPr>
          <a:xfrm>
            <a:off x="8435340" y="132588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10</a:t>
            </a:r>
            <a:endParaRPr lang="en-US" sz="2200" dirty="0"/>
          </a:p>
        </p:txBody>
      </p:sp>
      <p:sp>
        <p:nvSpPr>
          <p:cNvPr id="14" name="Cell 38"/>
          <p:cNvSpPr txBox="1"/>
          <p:nvPr/>
        </p:nvSpPr>
        <p:spPr>
          <a:xfrm>
            <a:off x="2788920" y="251460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38</a:t>
            </a:r>
            <a:endParaRPr lang="en-US" sz="2200" dirty="0"/>
          </a:p>
        </p:txBody>
      </p:sp>
      <p:sp>
        <p:nvSpPr>
          <p:cNvPr id="15" name="Cell 27"/>
          <p:cNvSpPr txBox="1"/>
          <p:nvPr/>
        </p:nvSpPr>
        <p:spPr>
          <a:xfrm>
            <a:off x="3520440" y="251460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27</a:t>
            </a:r>
            <a:endParaRPr lang="en-US" sz="2200" dirty="0"/>
          </a:p>
        </p:txBody>
      </p:sp>
      <p:sp>
        <p:nvSpPr>
          <p:cNvPr id="16" name="Cell 43"/>
          <p:cNvSpPr txBox="1"/>
          <p:nvPr/>
        </p:nvSpPr>
        <p:spPr>
          <a:xfrm>
            <a:off x="4251960" y="251460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43</a:t>
            </a:r>
            <a:endParaRPr lang="en-US" sz="2200" dirty="0"/>
          </a:p>
        </p:txBody>
      </p:sp>
      <p:sp>
        <p:nvSpPr>
          <p:cNvPr id="17" name="Cell 3"/>
          <p:cNvSpPr txBox="1"/>
          <p:nvPr/>
        </p:nvSpPr>
        <p:spPr>
          <a:xfrm>
            <a:off x="4983480" y="251460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Cell 9"/>
          <p:cNvSpPr txBox="1"/>
          <p:nvPr/>
        </p:nvSpPr>
        <p:spPr>
          <a:xfrm>
            <a:off x="7863840" y="251460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9</a:t>
            </a:r>
            <a:endParaRPr lang="en-US" sz="2200" dirty="0"/>
          </a:p>
        </p:txBody>
      </p:sp>
      <p:sp>
        <p:nvSpPr>
          <p:cNvPr id="19" name="Cell 82"/>
          <p:cNvSpPr txBox="1"/>
          <p:nvPr/>
        </p:nvSpPr>
        <p:spPr>
          <a:xfrm>
            <a:off x="8595360" y="251460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82</a:t>
            </a:r>
            <a:endParaRPr lang="en-US" sz="2200" dirty="0"/>
          </a:p>
        </p:txBody>
      </p:sp>
      <p:sp>
        <p:nvSpPr>
          <p:cNvPr id="20" name="Cell 10"/>
          <p:cNvSpPr txBox="1"/>
          <p:nvPr/>
        </p:nvSpPr>
        <p:spPr>
          <a:xfrm>
            <a:off x="9326880" y="251460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10</a:t>
            </a:r>
            <a:endParaRPr lang="en-US" sz="2200" dirty="0"/>
          </a:p>
        </p:txBody>
      </p:sp>
      <p:sp>
        <p:nvSpPr>
          <p:cNvPr id="21" name="Cell 38"/>
          <p:cNvSpPr txBox="1"/>
          <p:nvPr/>
        </p:nvSpPr>
        <p:spPr>
          <a:xfrm>
            <a:off x="2331720" y="370332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38</a:t>
            </a:r>
            <a:endParaRPr lang="en-US" sz="2200" dirty="0"/>
          </a:p>
        </p:txBody>
      </p:sp>
      <p:sp>
        <p:nvSpPr>
          <p:cNvPr id="22" name="Cell 27"/>
          <p:cNvSpPr txBox="1"/>
          <p:nvPr/>
        </p:nvSpPr>
        <p:spPr>
          <a:xfrm>
            <a:off x="3063240" y="370332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27</a:t>
            </a:r>
            <a:endParaRPr lang="en-US" sz="2200" dirty="0"/>
          </a:p>
        </p:txBody>
      </p:sp>
      <p:sp>
        <p:nvSpPr>
          <p:cNvPr id="23" name="Cell 43"/>
          <p:cNvSpPr txBox="1"/>
          <p:nvPr/>
        </p:nvSpPr>
        <p:spPr>
          <a:xfrm>
            <a:off x="4709160" y="370332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43</a:t>
            </a:r>
            <a:endParaRPr lang="en-US" sz="2200" dirty="0"/>
          </a:p>
        </p:txBody>
      </p:sp>
      <p:sp>
        <p:nvSpPr>
          <p:cNvPr id="24" name="Cell 3"/>
          <p:cNvSpPr txBox="1"/>
          <p:nvPr/>
        </p:nvSpPr>
        <p:spPr>
          <a:xfrm>
            <a:off x="5440680" y="370332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3</a:t>
            </a:r>
            <a:endParaRPr lang="en-US" sz="2200" dirty="0"/>
          </a:p>
        </p:txBody>
      </p:sp>
      <p:sp>
        <p:nvSpPr>
          <p:cNvPr id="25" name="Cell 9"/>
          <p:cNvSpPr txBox="1"/>
          <p:nvPr/>
        </p:nvSpPr>
        <p:spPr>
          <a:xfrm>
            <a:off x="7635240" y="370332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9</a:t>
            </a:r>
            <a:endParaRPr lang="en-US" sz="2200" dirty="0"/>
          </a:p>
        </p:txBody>
      </p:sp>
      <p:sp>
        <p:nvSpPr>
          <p:cNvPr id="26" name="Cell 82"/>
          <p:cNvSpPr txBox="1"/>
          <p:nvPr/>
        </p:nvSpPr>
        <p:spPr>
          <a:xfrm>
            <a:off x="8366760" y="370332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82</a:t>
            </a:r>
            <a:endParaRPr lang="en-US" sz="2200" dirty="0"/>
          </a:p>
        </p:txBody>
      </p:sp>
      <p:sp>
        <p:nvSpPr>
          <p:cNvPr id="27" name="Cell 10"/>
          <p:cNvSpPr txBox="1"/>
          <p:nvPr/>
        </p:nvSpPr>
        <p:spPr>
          <a:xfrm>
            <a:off x="9784080" y="370332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10</a:t>
            </a:r>
            <a:endParaRPr lang="en-US" sz="2200" dirty="0"/>
          </a:p>
        </p:txBody>
      </p:sp>
      <p:sp>
        <p:nvSpPr>
          <p:cNvPr id="28" name="Cell 38"/>
          <p:cNvSpPr txBox="1"/>
          <p:nvPr/>
        </p:nvSpPr>
        <p:spPr>
          <a:xfrm>
            <a:off x="2103120" y="489204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38</a:t>
            </a:r>
            <a:endParaRPr lang="en-US" sz="2200" dirty="0"/>
          </a:p>
        </p:txBody>
      </p:sp>
      <p:sp>
        <p:nvSpPr>
          <p:cNvPr id="29" name="Cell 27"/>
          <p:cNvSpPr txBox="1"/>
          <p:nvPr/>
        </p:nvSpPr>
        <p:spPr>
          <a:xfrm>
            <a:off x="3291840" y="489204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27</a:t>
            </a:r>
            <a:endParaRPr lang="en-US" sz="2200" dirty="0"/>
          </a:p>
        </p:txBody>
      </p:sp>
      <p:sp>
        <p:nvSpPr>
          <p:cNvPr id="30" name="Cell 43"/>
          <p:cNvSpPr txBox="1"/>
          <p:nvPr/>
        </p:nvSpPr>
        <p:spPr>
          <a:xfrm>
            <a:off x="4480560" y="489204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43</a:t>
            </a:r>
            <a:endParaRPr lang="en-US" sz="2200" dirty="0"/>
          </a:p>
        </p:txBody>
      </p:sp>
      <p:sp>
        <p:nvSpPr>
          <p:cNvPr id="31" name="Cell 3"/>
          <p:cNvSpPr txBox="1"/>
          <p:nvPr/>
        </p:nvSpPr>
        <p:spPr>
          <a:xfrm>
            <a:off x="5669280" y="489204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3</a:t>
            </a:r>
            <a:endParaRPr lang="en-US" sz="2200" dirty="0"/>
          </a:p>
        </p:txBody>
      </p:sp>
      <p:sp>
        <p:nvSpPr>
          <p:cNvPr id="32" name="Cell 9"/>
          <p:cNvSpPr txBox="1"/>
          <p:nvPr/>
        </p:nvSpPr>
        <p:spPr>
          <a:xfrm>
            <a:off x="7406640" y="489204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9</a:t>
            </a:r>
            <a:endParaRPr lang="en-US" sz="2200" dirty="0"/>
          </a:p>
        </p:txBody>
      </p:sp>
      <p:sp>
        <p:nvSpPr>
          <p:cNvPr id="33" name="Cell 82"/>
          <p:cNvSpPr txBox="1"/>
          <p:nvPr/>
        </p:nvSpPr>
        <p:spPr>
          <a:xfrm>
            <a:off x="8595360" y="489204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82</a:t>
            </a:r>
            <a:endParaRPr lang="en-US" sz="2200" dirty="0"/>
          </a:p>
        </p:txBody>
      </p:sp>
      <p:sp>
        <p:nvSpPr>
          <p:cNvPr id="34" name="Cell 10"/>
          <p:cNvSpPr txBox="1"/>
          <p:nvPr/>
        </p:nvSpPr>
        <p:spPr>
          <a:xfrm>
            <a:off x="9784080" y="489204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10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 flipH="1">
            <a:off x="4251960" y="1993392"/>
            <a:ext cx="2286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938260" y="1993392"/>
            <a:ext cx="2286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063240" y="3182112"/>
            <a:ext cx="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440680" y="3182112"/>
            <a:ext cx="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366760" y="3182112"/>
            <a:ext cx="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829800" y="3182112"/>
            <a:ext cx="32004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H="1">
            <a:off x="2468880" y="4370832"/>
            <a:ext cx="9144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566160" y="4370832"/>
            <a:ext cx="9144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H="1">
            <a:off x="4846320" y="4370832"/>
            <a:ext cx="9144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943600" y="4370832"/>
            <a:ext cx="9144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>
            <a:off x="7772400" y="4370832"/>
            <a:ext cx="9144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869680" y="4370832"/>
            <a:ext cx="9144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149840" y="4370832"/>
            <a:ext cx="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75569"/>
                </a:solidFill>
              </a:rPr>
              <a:t>7 elements need 3 levels of splitting (⌈log₂ 7⌉ = 3) before every subarray has one element.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Repeatedly Divide Until One Element Remains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INPUT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423160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FIRST DIVISION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20440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SECOND DIVISION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617720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FINAL DIVISION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08760" y="1920240"/>
            <a:ext cx="0" cy="475488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508760" y="3017520"/>
            <a:ext cx="0" cy="475488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508760" y="4114800"/>
            <a:ext cx="0" cy="475488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0" name="Cell 38"/>
          <p:cNvSpPr txBox="1"/>
          <p:nvPr/>
        </p:nvSpPr>
        <p:spPr>
          <a:xfrm>
            <a:off x="457200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38</a:t>
            </a:r>
            <a:endParaRPr lang="en-US" sz="2000" dirty="0"/>
          </a:p>
        </p:txBody>
      </p:sp>
      <p:sp>
        <p:nvSpPr>
          <p:cNvPr id="11" name="Cell 27"/>
          <p:cNvSpPr txBox="1"/>
          <p:nvPr/>
        </p:nvSpPr>
        <p:spPr>
          <a:xfrm>
            <a:off x="530352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27</a:t>
            </a:r>
            <a:endParaRPr lang="en-US" sz="2000" dirty="0"/>
          </a:p>
        </p:txBody>
      </p:sp>
      <p:sp>
        <p:nvSpPr>
          <p:cNvPr id="12" name="Cell 43"/>
          <p:cNvSpPr txBox="1"/>
          <p:nvPr/>
        </p:nvSpPr>
        <p:spPr>
          <a:xfrm>
            <a:off x="603504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43</a:t>
            </a:r>
            <a:endParaRPr lang="en-US" sz="2000" dirty="0"/>
          </a:p>
        </p:txBody>
      </p:sp>
      <p:sp>
        <p:nvSpPr>
          <p:cNvPr id="13" name="Cell 3"/>
          <p:cNvSpPr txBox="1"/>
          <p:nvPr/>
        </p:nvSpPr>
        <p:spPr>
          <a:xfrm>
            <a:off x="676656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Cell 9"/>
          <p:cNvSpPr txBox="1"/>
          <p:nvPr/>
        </p:nvSpPr>
        <p:spPr>
          <a:xfrm>
            <a:off x="749808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9</a:t>
            </a:r>
            <a:endParaRPr lang="en-US" sz="2000" dirty="0"/>
          </a:p>
        </p:txBody>
      </p:sp>
      <p:sp>
        <p:nvSpPr>
          <p:cNvPr id="15" name="Cell 82"/>
          <p:cNvSpPr txBox="1"/>
          <p:nvPr/>
        </p:nvSpPr>
        <p:spPr>
          <a:xfrm>
            <a:off x="822960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82</a:t>
            </a:r>
            <a:endParaRPr lang="en-US" sz="2000" dirty="0"/>
          </a:p>
        </p:txBody>
      </p:sp>
      <p:sp>
        <p:nvSpPr>
          <p:cNvPr id="16" name="Cell 10"/>
          <p:cNvSpPr txBox="1"/>
          <p:nvPr/>
        </p:nvSpPr>
        <p:spPr>
          <a:xfrm>
            <a:off x="896112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10</a:t>
            </a:r>
            <a:endParaRPr lang="en-US" sz="2000" dirty="0"/>
          </a:p>
        </p:txBody>
      </p:sp>
      <p:sp>
        <p:nvSpPr>
          <p:cNvPr id="17" name="Cell 38"/>
          <p:cNvSpPr txBox="1"/>
          <p:nvPr/>
        </p:nvSpPr>
        <p:spPr>
          <a:xfrm>
            <a:off x="3474720" y="242316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38</a:t>
            </a:r>
            <a:endParaRPr lang="en-US" sz="2000" dirty="0"/>
          </a:p>
        </p:txBody>
      </p:sp>
      <p:sp>
        <p:nvSpPr>
          <p:cNvPr id="18" name="Cell 27"/>
          <p:cNvSpPr txBox="1"/>
          <p:nvPr/>
        </p:nvSpPr>
        <p:spPr>
          <a:xfrm>
            <a:off x="4206240" y="242316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27</a:t>
            </a:r>
            <a:endParaRPr lang="en-US" sz="2000" dirty="0"/>
          </a:p>
        </p:txBody>
      </p:sp>
      <p:sp>
        <p:nvSpPr>
          <p:cNvPr id="19" name="Cell 43"/>
          <p:cNvSpPr txBox="1"/>
          <p:nvPr/>
        </p:nvSpPr>
        <p:spPr>
          <a:xfrm>
            <a:off x="4937760" y="242316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43</a:t>
            </a:r>
            <a:endParaRPr lang="en-US" sz="2000" dirty="0"/>
          </a:p>
        </p:txBody>
      </p:sp>
      <p:sp>
        <p:nvSpPr>
          <p:cNvPr id="20" name="Cell 3"/>
          <p:cNvSpPr txBox="1"/>
          <p:nvPr/>
        </p:nvSpPr>
        <p:spPr>
          <a:xfrm>
            <a:off x="5669280" y="242316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Cell 9"/>
          <p:cNvSpPr txBox="1"/>
          <p:nvPr/>
        </p:nvSpPr>
        <p:spPr>
          <a:xfrm>
            <a:off x="8229600" y="242316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9</a:t>
            </a:r>
            <a:endParaRPr lang="en-US" sz="2000" dirty="0"/>
          </a:p>
        </p:txBody>
      </p:sp>
      <p:sp>
        <p:nvSpPr>
          <p:cNvPr id="22" name="Cell 82"/>
          <p:cNvSpPr txBox="1"/>
          <p:nvPr/>
        </p:nvSpPr>
        <p:spPr>
          <a:xfrm>
            <a:off x="8961120" y="242316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82</a:t>
            </a:r>
            <a:endParaRPr lang="en-US" sz="2000" dirty="0"/>
          </a:p>
        </p:txBody>
      </p:sp>
      <p:sp>
        <p:nvSpPr>
          <p:cNvPr id="23" name="Cell 10"/>
          <p:cNvSpPr txBox="1"/>
          <p:nvPr/>
        </p:nvSpPr>
        <p:spPr>
          <a:xfrm>
            <a:off x="9692640" y="242316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10</a:t>
            </a:r>
            <a:endParaRPr lang="en-US" sz="2000" dirty="0"/>
          </a:p>
        </p:txBody>
      </p:sp>
      <p:sp>
        <p:nvSpPr>
          <p:cNvPr id="24" name="Cell 38"/>
          <p:cNvSpPr txBox="1"/>
          <p:nvPr/>
        </p:nvSpPr>
        <p:spPr>
          <a:xfrm>
            <a:off x="3108960" y="352044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38</a:t>
            </a:r>
            <a:endParaRPr lang="en-US" sz="2000" dirty="0"/>
          </a:p>
        </p:txBody>
      </p:sp>
      <p:sp>
        <p:nvSpPr>
          <p:cNvPr id="25" name="Cell 27"/>
          <p:cNvSpPr txBox="1"/>
          <p:nvPr/>
        </p:nvSpPr>
        <p:spPr>
          <a:xfrm>
            <a:off x="3840480" y="352044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27</a:t>
            </a:r>
            <a:endParaRPr lang="en-US" sz="2000" dirty="0"/>
          </a:p>
        </p:txBody>
      </p:sp>
      <p:sp>
        <p:nvSpPr>
          <p:cNvPr id="26" name="Cell 43"/>
          <p:cNvSpPr txBox="1"/>
          <p:nvPr/>
        </p:nvSpPr>
        <p:spPr>
          <a:xfrm>
            <a:off x="5303520" y="352044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43</a:t>
            </a:r>
            <a:endParaRPr lang="en-US" sz="2000" dirty="0"/>
          </a:p>
        </p:txBody>
      </p:sp>
      <p:sp>
        <p:nvSpPr>
          <p:cNvPr id="27" name="Cell 3"/>
          <p:cNvSpPr txBox="1"/>
          <p:nvPr/>
        </p:nvSpPr>
        <p:spPr>
          <a:xfrm>
            <a:off x="6035040" y="352044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3</a:t>
            </a:r>
            <a:endParaRPr lang="en-US" sz="2000" dirty="0"/>
          </a:p>
        </p:txBody>
      </p:sp>
      <p:sp>
        <p:nvSpPr>
          <p:cNvPr id="28" name="Cell 9"/>
          <p:cNvSpPr txBox="1"/>
          <p:nvPr/>
        </p:nvSpPr>
        <p:spPr>
          <a:xfrm>
            <a:off x="8046720" y="352044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9</a:t>
            </a:r>
            <a:endParaRPr lang="en-US" sz="2000" dirty="0"/>
          </a:p>
        </p:txBody>
      </p:sp>
      <p:sp>
        <p:nvSpPr>
          <p:cNvPr id="29" name="Cell 82"/>
          <p:cNvSpPr txBox="1"/>
          <p:nvPr/>
        </p:nvSpPr>
        <p:spPr>
          <a:xfrm>
            <a:off x="8778240" y="352044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82</a:t>
            </a:r>
            <a:endParaRPr lang="en-US" sz="2000" dirty="0"/>
          </a:p>
        </p:txBody>
      </p:sp>
      <p:sp>
        <p:nvSpPr>
          <p:cNvPr id="30" name="Cell 10"/>
          <p:cNvSpPr txBox="1"/>
          <p:nvPr/>
        </p:nvSpPr>
        <p:spPr>
          <a:xfrm>
            <a:off x="10058400" y="352044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10</a:t>
            </a:r>
            <a:endParaRPr lang="en-US" sz="2000" dirty="0"/>
          </a:p>
        </p:txBody>
      </p:sp>
      <p:sp>
        <p:nvSpPr>
          <p:cNvPr id="31" name="Cell 38"/>
          <p:cNvSpPr txBox="1"/>
          <p:nvPr/>
        </p:nvSpPr>
        <p:spPr>
          <a:xfrm>
            <a:off x="2926080" y="461772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38</a:t>
            </a:r>
            <a:endParaRPr lang="en-US" sz="2000" dirty="0"/>
          </a:p>
        </p:txBody>
      </p:sp>
      <p:sp>
        <p:nvSpPr>
          <p:cNvPr id="32" name="Cell 27"/>
          <p:cNvSpPr txBox="1"/>
          <p:nvPr/>
        </p:nvSpPr>
        <p:spPr>
          <a:xfrm>
            <a:off x="4023360" y="461772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27</a:t>
            </a:r>
            <a:endParaRPr lang="en-US" sz="2000" dirty="0"/>
          </a:p>
        </p:txBody>
      </p:sp>
      <p:sp>
        <p:nvSpPr>
          <p:cNvPr id="33" name="Cell 43"/>
          <p:cNvSpPr txBox="1"/>
          <p:nvPr/>
        </p:nvSpPr>
        <p:spPr>
          <a:xfrm>
            <a:off x="5120640" y="461772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43</a:t>
            </a:r>
            <a:endParaRPr lang="en-US" sz="2000" dirty="0"/>
          </a:p>
        </p:txBody>
      </p:sp>
      <p:sp>
        <p:nvSpPr>
          <p:cNvPr id="34" name="Cell 3"/>
          <p:cNvSpPr txBox="1"/>
          <p:nvPr/>
        </p:nvSpPr>
        <p:spPr>
          <a:xfrm>
            <a:off x="6217920" y="461772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3</a:t>
            </a:r>
            <a:endParaRPr lang="en-US" sz="2000" dirty="0"/>
          </a:p>
        </p:txBody>
      </p:sp>
      <p:sp>
        <p:nvSpPr>
          <p:cNvPr id="35" name="Cell 9"/>
          <p:cNvSpPr txBox="1"/>
          <p:nvPr/>
        </p:nvSpPr>
        <p:spPr>
          <a:xfrm>
            <a:off x="7863840" y="461772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9</a:t>
            </a:r>
            <a:endParaRPr lang="en-US" sz="2000" dirty="0"/>
          </a:p>
        </p:txBody>
      </p:sp>
      <p:sp>
        <p:nvSpPr>
          <p:cNvPr id="36" name="Cell 82"/>
          <p:cNvSpPr txBox="1"/>
          <p:nvPr/>
        </p:nvSpPr>
        <p:spPr>
          <a:xfrm>
            <a:off x="8961120" y="461772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82</a:t>
            </a:r>
            <a:endParaRPr lang="en-US" sz="2000" dirty="0"/>
          </a:p>
        </p:txBody>
      </p:sp>
      <p:sp>
        <p:nvSpPr>
          <p:cNvPr id="37" name="Cell 10"/>
          <p:cNvSpPr txBox="1"/>
          <p:nvPr/>
        </p:nvSpPr>
        <p:spPr>
          <a:xfrm>
            <a:off x="10058400" y="461772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10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315200" y="1920240"/>
            <a:ext cx="0" cy="475488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7452360" y="19110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F766E"/>
                </a:solidFill>
              </a:rPr>
              <a:t>split at mid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937760" y="3017520"/>
            <a:ext cx="0" cy="475488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784080" y="3017520"/>
            <a:ext cx="0" cy="475488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840480" y="4114800"/>
            <a:ext cx="0" cy="475488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035040" y="4114800"/>
            <a:ext cx="0" cy="475488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778240" y="4114800"/>
            <a:ext cx="0" cy="475488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3017520" y="55778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Division stops when each subarray has exactly one element.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Merge Sorted Subarrays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325880"/>
            <a:ext cx="2194560" cy="566928"/>
          </a:xfrm>
          <a:prstGeom prst="roundRect">
            <a:avLst>
              <a:gd name="adj" fmla="val 16129"/>
            </a:avLst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SINGLE ELEMENTS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2423160"/>
            <a:ext cx="2194560" cy="566928"/>
          </a:xfrm>
          <a:prstGeom prst="roundRect">
            <a:avLst>
              <a:gd name="adj" fmla="val 16129"/>
            </a:avLst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FIRST MERGE LEVEL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3520440"/>
            <a:ext cx="2194560" cy="566928"/>
          </a:xfrm>
          <a:prstGeom prst="roundRect">
            <a:avLst>
              <a:gd name="adj" fmla="val 16129"/>
            </a:avLst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SECOND MERGE LEVEL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617720"/>
            <a:ext cx="2194560" cy="566928"/>
          </a:xfrm>
          <a:prstGeom prst="roundRect">
            <a:avLst>
              <a:gd name="adj" fmla="val 16129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FINAL MERGE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08760" y="1920240"/>
            <a:ext cx="0" cy="475488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508760" y="3017520"/>
            <a:ext cx="0" cy="475488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508760" y="4114800"/>
            <a:ext cx="0" cy="475488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0" name="Cell 38"/>
          <p:cNvSpPr txBox="1"/>
          <p:nvPr/>
        </p:nvSpPr>
        <p:spPr>
          <a:xfrm>
            <a:off x="292608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38</a:t>
            </a:r>
            <a:endParaRPr lang="en-US" sz="2000" dirty="0"/>
          </a:p>
        </p:txBody>
      </p:sp>
      <p:sp>
        <p:nvSpPr>
          <p:cNvPr id="11" name="Cell 27"/>
          <p:cNvSpPr txBox="1"/>
          <p:nvPr/>
        </p:nvSpPr>
        <p:spPr>
          <a:xfrm>
            <a:off x="402336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27</a:t>
            </a:r>
            <a:endParaRPr lang="en-US" sz="2000" dirty="0"/>
          </a:p>
        </p:txBody>
      </p:sp>
      <p:sp>
        <p:nvSpPr>
          <p:cNvPr id="12" name="Cell 43"/>
          <p:cNvSpPr txBox="1"/>
          <p:nvPr/>
        </p:nvSpPr>
        <p:spPr>
          <a:xfrm>
            <a:off x="512064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43</a:t>
            </a:r>
            <a:endParaRPr lang="en-US" sz="2000" dirty="0"/>
          </a:p>
        </p:txBody>
      </p:sp>
      <p:sp>
        <p:nvSpPr>
          <p:cNvPr id="13" name="Cell 3"/>
          <p:cNvSpPr txBox="1"/>
          <p:nvPr/>
        </p:nvSpPr>
        <p:spPr>
          <a:xfrm>
            <a:off x="621792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Cell 9"/>
          <p:cNvSpPr txBox="1"/>
          <p:nvPr/>
        </p:nvSpPr>
        <p:spPr>
          <a:xfrm>
            <a:off x="786384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9</a:t>
            </a:r>
            <a:endParaRPr lang="en-US" sz="2000" dirty="0"/>
          </a:p>
        </p:txBody>
      </p:sp>
      <p:sp>
        <p:nvSpPr>
          <p:cNvPr id="15" name="Cell 82"/>
          <p:cNvSpPr txBox="1"/>
          <p:nvPr/>
        </p:nvSpPr>
        <p:spPr>
          <a:xfrm>
            <a:off x="896112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82</a:t>
            </a:r>
            <a:endParaRPr lang="en-US" sz="2000" dirty="0"/>
          </a:p>
        </p:txBody>
      </p:sp>
      <p:sp>
        <p:nvSpPr>
          <p:cNvPr id="16" name="Cell 10"/>
          <p:cNvSpPr txBox="1"/>
          <p:nvPr/>
        </p:nvSpPr>
        <p:spPr>
          <a:xfrm>
            <a:off x="1005840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10</a:t>
            </a:r>
            <a:endParaRPr lang="en-US" sz="2000" dirty="0"/>
          </a:p>
        </p:txBody>
      </p:sp>
      <p:sp>
        <p:nvSpPr>
          <p:cNvPr id="17" name="Cell 27"/>
          <p:cNvSpPr txBox="1"/>
          <p:nvPr/>
        </p:nvSpPr>
        <p:spPr>
          <a:xfrm>
            <a:off x="3108960" y="242316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27</a:t>
            </a:r>
            <a:endParaRPr lang="en-US" sz="2000" dirty="0"/>
          </a:p>
        </p:txBody>
      </p:sp>
      <p:sp>
        <p:nvSpPr>
          <p:cNvPr id="18" name="Cell 38"/>
          <p:cNvSpPr txBox="1"/>
          <p:nvPr/>
        </p:nvSpPr>
        <p:spPr>
          <a:xfrm>
            <a:off x="3840480" y="242316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38</a:t>
            </a:r>
            <a:endParaRPr lang="en-US" sz="2000" dirty="0"/>
          </a:p>
        </p:txBody>
      </p:sp>
      <p:sp>
        <p:nvSpPr>
          <p:cNvPr id="19" name="Cell 3"/>
          <p:cNvSpPr txBox="1"/>
          <p:nvPr/>
        </p:nvSpPr>
        <p:spPr>
          <a:xfrm>
            <a:off x="5303520" y="242316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Cell 43"/>
          <p:cNvSpPr txBox="1"/>
          <p:nvPr/>
        </p:nvSpPr>
        <p:spPr>
          <a:xfrm>
            <a:off x="6035040" y="242316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43</a:t>
            </a:r>
            <a:endParaRPr lang="en-US" sz="2000" dirty="0"/>
          </a:p>
        </p:txBody>
      </p:sp>
      <p:sp>
        <p:nvSpPr>
          <p:cNvPr id="21" name="Cell 9"/>
          <p:cNvSpPr txBox="1"/>
          <p:nvPr/>
        </p:nvSpPr>
        <p:spPr>
          <a:xfrm>
            <a:off x="8046720" y="242316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9</a:t>
            </a:r>
            <a:endParaRPr lang="en-US" sz="2000" dirty="0"/>
          </a:p>
        </p:txBody>
      </p:sp>
      <p:sp>
        <p:nvSpPr>
          <p:cNvPr id="22" name="Cell 82"/>
          <p:cNvSpPr txBox="1"/>
          <p:nvPr/>
        </p:nvSpPr>
        <p:spPr>
          <a:xfrm>
            <a:off x="8778240" y="242316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82</a:t>
            </a:r>
            <a:endParaRPr lang="en-US" sz="2000" dirty="0"/>
          </a:p>
        </p:txBody>
      </p:sp>
      <p:sp>
        <p:nvSpPr>
          <p:cNvPr id="23" name="Cell 10"/>
          <p:cNvSpPr txBox="1"/>
          <p:nvPr/>
        </p:nvSpPr>
        <p:spPr>
          <a:xfrm>
            <a:off x="10058400" y="242316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10</a:t>
            </a:r>
            <a:endParaRPr lang="en-US" sz="2000" dirty="0"/>
          </a:p>
        </p:txBody>
      </p:sp>
      <p:sp>
        <p:nvSpPr>
          <p:cNvPr id="24" name="Cell 3"/>
          <p:cNvSpPr txBox="1"/>
          <p:nvPr/>
        </p:nvSpPr>
        <p:spPr>
          <a:xfrm>
            <a:off x="3474720" y="352044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3</a:t>
            </a:r>
            <a:endParaRPr lang="en-US" sz="2000" dirty="0"/>
          </a:p>
        </p:txBody>
      </p:sp>
      <p:sp>
        <p:nvSpPr>
          <p:cNvPr id="25" name="Cell 27"/>
          <p:cNvSpPr txBox="1"/>
          <p:nvPr/>
        </p:nvSpPr>
        <p:spPr>
          <a:xfrm>
            <a:off x="4206240" y="352044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27</a:t>
            </a:r>
            <a:endParaRPr lang="en-US" sz="2000" dirty="0"/>
          </a:p>
        </p:txBody>
      </p:sp>
      <p:sp>
        <p:nvSpPr>
          <p:cNvPr id="26" name="Cell 38"/>
          <p:cNvSpPr txBox="1"/>
          <p:nvPr/>
        </p:nvSpPr>
        <p:spPr>
          <a:xfrm>
            <a:off x="4937760" y="352044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38</a:t>
            </a:r>
            <a:endParaRPr lang="en-US" sz="2000" dirty="0"/>
          </a:p>
        </p:txBody>
      </p:sp>
      <p:sp>
        <p:nvSpPr>
          <p:cNvPr id="27" name="Cell 43"/>
          <p:cNvSpPr txBox="1"/>
          <p:nvPr/>
        </p:nvSpPr>
        <p:spPr>
          <a:xfrm>
            <a:off x="5669280" y="352044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43</a:t>
            </a:r>
            <a:endParaRPr lang="en-US" sz="2000" dirty="0"/>
          </a:p>
        </p:txBody>
      </p:sp>
      <p:sp>
        <p:nvSpPr>
          <p:cNvPr id="28" name="Cell 9"/>
          <p:cNvSpPr txBox="1"/>
          <p:nvPr/>
        </p:nvSpPr>
        <p:spPr>
          <a:xfrm>
            <a:off x="8229600" y="352044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9</a:t>
            </a:r>
            <a:endParaRPr lang="en-US" sz="2000" dirty="0"/>
          </a:p>
        </p:txBody>
      </p:sp>
      <p:sp>
        <p:nvSpPr>
          <p:cNvPr id="29" name="Cell 10"/>
          <p:cNvSpPr txBox="1"/>
          <p:nvPr/>
        </p:nvSpPr>
        <p:spPr>
          <a:xfrm>
            <a:off x="8961120" y="352044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10</a:t>
            </a:r>
            <a:endParaRPr lang="en-US" sz="2000" dirty="0"/>
          </a:p>
        </p:txBody>
      </p:sp>
      <p:sp>
        <p:nvSpPr>
          <p:cNvPr id="30" name="Cell 82"/>
          <p:cNvSpPr txBox="1"/>
          <p:nvPr/>
        </p:nvSpPr>
        <p:spPr>
          <a:xfrm>
            <a:off x="9692640" y="352044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82</a:t>
            </a:r>
            <a:endParaRPr lang="en-US" sz="2000" dirty="0"/>
          </a:p>
        </p:txBody>
      </p:sp>
      <p:sp>
        <p:nvSpPr>
          <p:cNvPr id="31" name="Cell 3"/>
          <p:cNvSpPr txBox="1"/>
          <p:nvPr/>
        </p:nvSpPr>
        <p:spPr>
          <a:xfrm>
            <a:off x="4572000" y="4617720"/>
            <a:ext cx="73152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3</a:t>
            </a:r>
            <a:endParaRPr lang="en-US" sz="2000" dirty="0"/>
          </a:p>
        </p:txBody>
      </p:sp>
      <p:sp>
        <p:nvSpPr>
          <p:cNvPr id="32" name="Cell 9"/>
          <p:cNvSpPr txBox="1"/>
          <p:nvPr/>
        </p:nvSpPr>
        <p:spPr>
          <a:xfrm>
            <a:off x="5303520" y="4617720"/>
            <a:ext cx="73152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9</a:t>
            </a:r>
            <a:endParaRPr lang="en-US" sz="2000" dirty="0"/>
          </a:p>
        </p:txBody>
      </p:sp>
      <p:sp>
        <p:nvSpPr>
          <p:cNvPr id="33" name="Cell 10"/>
          <p:cNvSpPr txBox="1"/>
          <p:nvPr/>
        </p:nvSpPr>
        <p:spPr>
          <a:xfrm>
            <a:off x="6035040" y="4617720"/>
            <a:ext cx="73152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10</a:t>
            </a:r>
            <a:endParaRPr lang="en-US" sz="2000" dirty="0"/>
          </a:p>
        </p:txBody>
      </p:sp>
      <p:sp>
        <p:nvSpPr>
          <p:cNvPr id="34" name="Cell 27"/>
          <p:cNvSpPr txBox="1"/>
          <p:nvPr/>
        </p:nvSpPr>
        <p:spPr>
          <a:xfrm>
            <a:off x="6766560" y="4617720"/>
            <a:ext cx="73152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27</a:t>
            </a:r>
            <a:endParaRPr lang="en-US" sz="2000" dirty="0"/>
          </a:p>
        </p:txBody>
      </p:sp>
      <p:sp>
        <p:nvSpPr>
          <p:cNvPr id="35" name="Cell 38"/>
          <p:cNvSpPr txBox="1"/>
          <p:nvPr/>
        </p:nvSpPr>
        <p:spPr>
          <a:xfrm>
            <a:off x="7498080" y="4617720"/>
            <a:ext cx="73152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38</a:t>
            </a:r>
            <a:endParaRPr lang="en-US" sz="2000" dirty="0"/>
          </a:p>
        </p:txBody>
      </p:sp>
      <p:sp>
        <p:nvSpPr>
          <p:cNvPr id="36" name="Cell 43"/>
          <p:cNvSpPr txBox="1"/>
          <p:nvPr/>
        </p:nvSpPr>
        <p:spPr>
          <a:xfrm>
            <a:off x="8229600" y="4617720"/>
            <a:ext cx="73152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43</a:t>
            </a:r>
            <a:endParaRPr lang="en-US" sz="2000" dirty="0"/>
          </a:p>
        </p:txBody>
      </p:sp>
      <p:sp>
        <p:nvSpPr>
          <p:cNvPr id="37" name="Cell 82"/>
          <p:cNvSpPr txBox="1"/>
          <p:nvPr/>
        </p:nvSpPr>
        <p:spPr>
          <a:xfrm>
            <a:off x="8961120" y="4617720"/>
            <a:ext cx="73152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82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3291840" y="192024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389120" y="192024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486400" y="192024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583680" y="192024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229600" y="192024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326880" y="192024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424160" y="192024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840480" y="301752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035040" y="301752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778240" y="301752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H="1">
            <a:off x="10241280" y="3017520"/>
            <a:ext cx="18288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937760" y="411480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326880" y="411480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2651760" y="5440680"/>
            <a:ext cx="9052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F3A"/>
                </a:solidFill>
              </a:rPr>
              <a:t>Compare the front elements of the two sorted arrays: copy the smaller one to the output, then advance that pointer.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Merge Sort Algorithm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852160" cy="5074920"/>
          </a:xfrm>
          <a:prstGeom prst="roundRect">
            <a:avLst>
              <a:gd name="adj" fmla="val 216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EEAD4"/>
                </a:solidFill>
              </a:rPr>
              <a:t>PSEUDOCODE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MERGE_SORT</a:t>
            </a: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(A):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7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length(A) &lt;= 1: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7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7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</a:t>
            </a: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into left and right halves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 = </a:t>
            </a:r>
            <a:r>
              <a:rPr lang="en-US" sz="17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MERGE_SORT</a:t>
            </a: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(left)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right = </a:t>
            </a:r>
            <a:r>
              <a:rPr lang="en-US" sz="17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MERGE_SORT</a:t>
            </a: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(right)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7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</a:t>
            </a: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(left, right)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3035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BD5E1"/>
                </a:solidFill>
              </a:rPr>
              <a:t>Base case: size ≤ 1 is already sorted.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BD5E1"/>
                </a:solidFill>
              </a:rPr>
              <a:t>MERGE combines two sorted halves in O(n).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234440"/>
            <a:ext cx="1828800" cy="384048"/>
          </a:xfrm>
          <a:prstGeom prst="ellipse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START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0" y="1645920"/>
            <a:ext cx="0" cy="182880"/>
          </a:xfrm>
          <a:prstGeom prst="line">
            <a:avLst/>
          </a:prstGeom>
          <a:noFill/>
          <a:ln w="28575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6858000" y="1847088"/>
            <a:ext cx="2743200" cy="1005840"/>
          </a:xfrm>
          <a:prstGeom prst="diamond">
            <a:avLst/>
          </a:prstGeom>
          <a:solidFill>
            <a:srgbClr val="14B8A6"/>
          </a:solidFill>
          <a:ln w="254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Array size &lt;= 1?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2871216"/>
            <a:ext cx="0" cy="237744"/>
          </a:xfrm>
          <a:prstGeom prst="line">
            <a:avLst/>
          </a:prstGeom>
          <a:noFill/>
          <a:ln w="28575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8321040" y="28529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NO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108960"/>
            <a:ext cx="29260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Divide array into two halves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3566160"/>
            <a:ext cx="0" cy="228600"/>
          </a:xfrm>
          <a:prstGeom prst="line">
            <a:avLst/>
          </a:prstGeom>
          <a:noFill/>
          <a:ln w="28575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766560" y="3794760"/>
            <a:ext cx="29260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Recursively sort both halves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4251960"/>
            <a:ext cx="0" cy="228600"/>
          </a:xfrm>
          <a:prstGeom prst="line">
            <a:avLst/>
          </a:prstGeom>
          <a:noFill/>
          <a:ln w="28575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766560" y="4480560"/>
            <a:ext cx="2926080" cy="438912"/>
          </a:xfrm>
          <a:prstGeom prst="rect">
            <a:avLst/>
          </a:prstGeom>
          <a:solidFill>
            <a:srgbClr val="14B8A6"/>
          </a:solidFill>
          <a:ln w="254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Merge sorted halves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0" y="4937760"/>
            <a:ext cx="0" cy="228600"/>
          </a:xfrm>
          <a:prstGeom prst="line">
            <a:avLst/>
          </a:prstGeom>
          <a:noFill/>
          <a:ln w="28575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766560" y="5166360"/>
            <a:ext cx="29260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Return sorted array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0" y="5623560"/>
            <a:ext cx="0" cy="228600"/>
          </a:xfrm>
          <a:prstGeom prst="line">
            <a:avLst/>
          </a:prstGeom>
          <a:noFill/>
          <a:ln w="28575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7315200" y="5852160"/>
            <a:ext cx="1828800" cy="384048"/>
          </a:xfrm>
          <a:prstGeom prst="ellipse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END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601200" y="2350008"/>
            <a:ext cx="548640" cy="0"/>
          </a:xfrm>
          <a:prstGeom prst="line">
            <a:avLst/>
          </a:prstGeom>
          <a:noFill/>
          <a:ln w="28575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9601200" y="2029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YES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0" y="2130552"/>
            <a:ext cx="1600200" cy="438912"/>
          </a:xfrm>
          <a:prstGeom prst="rect">
            <a:avLst/>
          </a:prstGeom>
          <a:solidFill>
            <a:srgbClr val="CCFBF1"/>
          </a:solidFill>
          <a:ln w="254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Return array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949940" y="2587752"/>
            <a:ext cx="0" cy="3456432"/>
          </a:xfrm>
          <a:prstGeom prst="line">
            <a:avLst/>
          </a:prstGeom>
          <a:noFill/>
          <a:ln w="28575">
            <a:solidFill>
              <a:srgbClr val="0B1F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9144000" y="6044184"/>
            <a:ext cx="1805940" cy="0"/>
          </a:xfrm>
          <a:prstGeom prst="line">
            <a:avLst/>
          </a:prstGeom>
          <a:noFill/>
          <a:ln w="28575">
            <a:solidFill>
              <a:srgbClr val="0B1F3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Time and Space Complexity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4846320" cy="283464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Complexity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1F3A"/>
                          </a:solidFill>
                        </a:rPr>
                        <a:t>Best Case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F766E"/>
                          </a:solidFill>
                        </a:rPr>
                        <a:t>O(n log n)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1F3A"/>
                          </a:solidFill>
                        </a:rPr>
                        <a:t>Average Case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F766E"/>
                          </a:solidFill>
                        </a:rPr>
                        <a:t>O(n log n)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1F3A"/>
                          </a:solidFill>
                        </a:rPr>
                        <a:t>Worst Case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F766E"/>
                          </a:solidFill>
                        </a:rPr>
                        <a:t>O(n log n)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1F3A"/>
                          </a:solidFill>
                        </a:rPr>
                        <a:t>Auxiliary Space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F766E"/>
                          </a:solidFill>
                        </a:rPr>
                        <a:t>O(n)</a:t>
                      </a:r>
                      <a:endParaRPr lang="en-US" sz="17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Cell 38"/>
          <p:cNvSpPr txBox="1"/>
          <p:nvPr/>
        </p:nvSpPr>
        <p:spPr>
          <a:xfrm>
            <a:off x="7274052" y="132588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38</a:t>
            </a:r>
            <a:endParaRPr lang="en-US" sz="1300" dirty="0"/>
          </a:p>
        </p:txBody>
      </p:sp>
      <p:sp>
        <p:nvSpPr>
          <p:cNvPr id="5" name="Cell 27"/>
          <p:cNvSpPr txBox="1"/>
          <p:nvPr/>
        </p:nvSpPr>
        <p:spPr>
          <a:xfrm>
            <a:off x="7658100" y="132588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27</a:t>
            </a:r>
            <a:endParaRPr lang="en-US" sz="1300" dirty="0"/>
          </a:p>
        </p:txBody>
      </p:sp>
      <p:sp>
        <p:nvSpPr>
          <p:cNvPr id="6" name="Cell 43"/>
          <p:cNvSpPr txBox="1"/>
          <p:nvPr/>
        </p:nvSpPr>
        <p:spPr>
          <a:xfrm>
            <a:off x="8042148" y="132588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43</a:t>
            </a:r>
            <a:endParaRPr lang="en-US" sz="1300" dirty="0"/>
          </a:p>
        </p:txBody>
      </p:sp>
      <p:sp>
        <p:nvSpPr>
          <p:cNvPr id="7" name="Cell 3"/>
          <p:cNvSpPr txBox="1"/>
          <p:nvPr/>
        </p:nvSpPr>
        <p:spPr>
          <a:xfrm>
            <a:off x="8426196" y="132588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3</a:t>
            </a:r>
            <a:endParaRPr lang="en-US" sz="1300" dirty="0"/>
          </a:p>
        </p:txBody>
      </p:sp>
      <p:sp>
        <p:nvSpPr>
          <p:cNvPr id="3" name="Cell 9"/>
          <p:cNvSpPr txBox="1"/>
          <p:nvPr/>
        </p:nvSpPr>
        <p:spPr>
          <a:xfrm>
            <a:off x="8810244" y="132588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9</a:t>
            </a:r>
            <a:endParaRPr lang="en-US" sz="1300" dirty="0"/>
          </a:p>
        </p:txBody>
      </p:sp>
      <p:sp>
        <p:nvSpPr>
          <p:cNvPr id="9" name="Cell 82"/>
          <p:cNvSpPr txBox="1"/>
          <p:nvPr/>
        </p:nvSpPr>
        <p:spPr>
          <a:xfrm>
            <a:off x="9194292" y="132588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82</a:t>
            </a:r>
            <a:endParaRPr lang="en-US" sz="1300" dirty="0"/>
          </a:p>
        </p:txBody>
      </p:sp>
      <p:sp>
        <p:nvSpPr>
          <p:cNvPr id="10" name="Cell 10"/>
          <p:cNvSpPr txBox="1"/>
          <p:nvPr/>
        </p:nvSpPr>
        <p:spPr>
          <a:xfrm>
            <a:off x="9578340" y="132588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10</a:t>
            </a:r>
            <a:endParaRPr lang="en-US" sz="1300" dirty="0"/>
          </a:p>
        </p:txBody>
      </p:sp>
      <p:sp>
        <p:nvSpPr>
          <p:cNvPr id="11" name="Cell 38"/>
          <p:cNvSpPr txBox="1"/>
          <p:nvPr/>
        </p:nvSpPr>
        <p:spPr>
          <a:xfrm>
            <a:off x="6592824" y="219456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38</a:t>
            </a:r>
            <a:endParaRPr lang="en-US" sz="1300" dirty="0"/>
          </a:p>
        </p:txBody>
      </p:sp>
      <p:sp>
        <p:nvSpPr>
          <p:cNvPr id="12" name="Cell 27"/>
          <p:cNvSpPr txBox="1"/>
          <p:nvPr/>
        </p:nvSpPr>
        <p:spPr>
          <a:xfrm>
            <a:off x="6976872" y="219456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27</a:t>
            </a:r>
            <a:endParaRPr lang="en-US" sz="1300" dirty="0"/>
          </a:p>
        </p:txBody>
      </p:sp>
      <p:sp>
        <p:nvSpPr>
          <p:cNvPr id="13" name="Cell 43"/>
          <p:cNvSpPr txBox="1"/>
          <p:nvPr/>
        </p:nvSpPr>
        <p:spPr>
          <a:xfrm>
            <a:off x="7360920" y="219456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43</a:t>
            </a:r>
            <a:endParaRPr lang="en-US" sz="1300" dirty="0"/>
          </a:p>
        </p:txBody>
      </p:sp>
      <p:sp>
        <p:nvSpPr>
          <p:cNvPr id="14" name="Cell 3"/>
          <p:cNvSpPr txBox="1"/>
          <p:nvPr/>
        </p:nvSpPr>
        <p:spPr>
          <a:xfrm>
            <a:off x="7744968" y="219456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Cell 9"/>
          <p:cNvSpPr txBox="1"/>
          <p:nvPr/>
        </p:nvSpPr>
        <p:spPr>
          <a:xfrm>
            <a:off x="9299448" y="219456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9</a:t>
            </a:r>
            <a:endParaRPr lang="en-US" sz="1300" dirty="0"/>
          </a:p>
        </p:txBody>
      </p:sp>
      <p:sp>
        <p:nvSpPr>
          <p:cNvPr id="16" name="Cell 82"/>
          <p:cNvSpPr txBox="1"/>
          <p:nvPr/>
        </p:nvSpPr>
        <p:spPr>
          <a:xfrm>
            <a:off x="9683496" y="219456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82</a:t>
            </a:r>
            <a:endParaRPr lang="en-US" sz="1300" dirty="0"/>
          </a:p>
        </p:txBody>
      </p:sp>
      <p:sp>
        <p:nvSpPr>
          <p:cNvPr id="17" name="Cell 10"/>
          <p:cNvSpPr txBox="1"/>
          <p:nvPr/>
        </p:nvSpPr>
        <p:spPr>
          <a:xfrm>
            <a:off x="10067544" y="219456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10</a:t>
            </a:r>
            <a:endParaRPr lang="en-US" sz="1300" dirty="0"/>
          </a:p>
        </p:txBody>
      </p:sp>
      <p:sp>
        <p:nvSpPr>
          <p:cNvPr id="18" name="Cell 38"/>
          <p:cNvSpPr txBox="1"/>
          <p:nvPr/>
        </p:nvSpPr>
        <p:spPr>
          <a:xfrm>
            <a:off x="6336792" y="306324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38</a:t>
            </a:r>
            <a:endParaRPr lang="en-US" sz="1300" dirty="0"/>
          </a:p>
        </p:txBody>
      </p:sp>
      <p:sp>
        <p:nvSpPr>
          <p:cNvPr id="19" name="Cell 27"/>
          <p:cNvSpPr txBox="1"/>
          <p:nvPr/>
        </p:nvSpPr>
        <p:spPr>
          <a:xfrm>
            <a:off x="6720840" y="306324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27</a:t>
            </a:r>
            <a:endParaRPr lang="en-US" sz="1300" dirty="0"/>
          </a:p>
        </p:txBody>
      </p:sp>
      <p:sp>
        <p:nvSpPr>
          <p:cNvPr id="20" name="Cell 43"/>
          <p:cNvSpPr txBox="1"/>
          <p:nvPr/>
        </p:nvSpPr>
        <p:spPr>
          <a:xfrm>
            <a:off x="7616952" y="306324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43</a:t>
            </a:r>
            <a:endParaRPr lang="en-US" sz="1300" dirty="0"/>
          </a:p>
        </p:txBody>
      </p:sp>
      <p:sp>
        <p:nvSpPr>
          <p:cNvPr id="21" name="Cell 3"/>
          <p:cNvSpPr txBox="1"/>
          <p:nvPr/>
        </p:nvSpPr>
        <p:spPr>
          <a:xfrm>
            <a:off x="8001000" y="306324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Cell 9"/>
          <p:cNvSpPr txBox="1"/>
          <p:nvPr/>
        </p:nvSpPr>
        <p:spPr>
          <a:xfrm>
            <a:off x="9171432" y="306324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9</a:t>
            </a:r>
            <a:endParaRPr lang="en-US" sz="1300" dirty="0"/>
          </a:p>
        </p:txBody>
      </p:sp>
      <p:sp>
        <p:nvSpPr>
          <p:cNvPr id="23" name="Cell 82"/>
          <p:cNvSpPr txBox="1"/>
          <p:nvPr/>
        </p:nvSpPr>
        <p:spPr>
          <a:xfrm>
            <a:off x="9555480" y="306324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82</a:t>
            </a:r>
            <a:endParaRPr lang="en-US" sz="1300" dirty="0"/>
          </a:p>
        </p:txBody>
      </p:sp>
      <p:sp>
        <p:nvSpPr>
          <p:cNvPr id="24" name="Cell 10"/>
          <p:cNvSpPr txBox="1"/>
          <p:nvPr/>
        </p:nvSpPr>
        <p:spPr>
          <a:xfrm>
            <a:off x="10323576" y="306324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10</a:t>
            </a:r>
            <a:endParaRPr lang="en-US" sz="1300" dirty="0"/>
          </a:p>
        </p:txBody>
      </p:sp>
      <p:sp>
        <p:nvSpPr>
          <p:cNvPr id="25" name="Cell 38"/>
          <p:cNvSpPr txBox="1"/>
          <p:nvPr/>
        </p:nvSpPr>
        <p:spPr>
          <a:xfrm>
            <a:off x="6208776" y="393192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38</a:t>
            </a:r>
            <a:endParaRPr lang="en-US" sz="1300" dirty="0"/>
          </a:p>
        </p:txBody>
      </p:sp>
      <p:sp>
        <p:nvSpPr>
          <p:cNvPr id="26" name="Cell 27"/>
          <p:cNvSpPr txBox="1"/>
          <p:nvPr/>
        </p:nvSpPr>
        <p:spPr>
          <a:xfrm>
            <a:off x="6848856" y="393192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27</a:t>
            </a:r>
            <a:endParaRPr lang="en-US" sz="1300" dirty="0"/>
          </a:p>
        </p:txBody>
      </p:sp>
      <p:sp>
        <p:nvSpPr>
          <p:cNvPr id="27" name="Cell 43"/>
          <p:cNvSpPr txBox="1"/>
          <p:nvPr/>
        </p:nvSpPr>
        <p:spPr>
          <a:xfrm>
            <a:off x="7488936" y="393192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43</a:t>
            </a:r>
            <a:endParaRPr lang="en-US" sz="1300" dirty="0"/>
          </a:p>
        </p:txBody>
      </p:sp>
      <p:sp>
        <p:nvSpPr>
          <p:cNvPr id="28" name="Cell 3"/>
          <p:cNvSpPr txBox="1"/>
          <p:nvPr/>
        </p:nvSpPr>
        <p:spPr>
          <a:xfrm>
            <a:off x="8129016" y="393192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3</a:t>
            </a:r>
            <a:endParaRPr lang="en-US" sz="1300" dirty="0"/>
          </a:p>
        </p:txBody>
      </p:sp>
      <p:sp>
        <p:nvSpPr>
          <p:cNvPr id="29" name="Cell 9"/>
          <p:cNvSpPr txBox="1"/>
          <p:nvPr/>
        </p:nvSpPr>
        <p:spPr>
          <a:xfrm>
            <a:off x="9043416" y="393192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9</a:t>
            </a:r>
            <a:endParaRPr lang="en-US" sz="1300" dirty="0"/>
          </a:p>
        </p:txBody>
      </p:sp>
      <p:sp>
        <p:nvSpPr>
          <p:cNvPr id="30" name="Cell 82"/>
          <p:cNvSpPr txBox="1"/>
          <p:nvPr/>
        </p:nvSpPr>
        <p:spPr>
          <a:xfrm>
            <a:off x="9683496" y="393192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82</a:t>
            </a:r>
            <a:endParaRPr lang="en-US" sz="1300" dirty="0"/>
          </a:p>
        </p:txBody>
      </p:sp>
      <p:sp>
        <p:nvSpPr>
          <p:cNvPr id="31" name="Cell 10"/>
          <p:cNvSpPr txBox="1"/>
          <p:nvPr/>
        </p:nvSpPr>
        <p:spPr>
          <a:xfrm>
            <a:off x="10323576" y="393192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10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 flipH="1">
            <a:off x="7360920" y="1764792"/>
            <a:ext cx="141732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9733788" y="1764792"/>
            <a:ext cx="141732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 flipH="1">
            <a:off x="6720840" y="2633472"/>
            <a:ext cx="100584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7900416" y="2633472"/>
            <a:ext cx="100584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9555480" y="2633472"/>
            <a:ext cx="0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10222992" y="2633472"/>
            <a:ext cx="292608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 flipH="1">
            <a:off x="6400800" y="3502152"/>
            <a:ext cx="164592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6876288" y="3502152"/>
            <a:ext cx="164592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 flipH="1">
            <a:off x="7680960" y="3502152"/>
            <a:ext cx="164592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8156448" y="3502152"/>
            <a:ext cx="164592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 flipH="1">
            <a:off x="9235440" y="3502152"/>
            <a:ext cx="164592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9710928" y="3502152"/>
            <a:ext cx="164592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10479024" y="3502152"/>
            <a:ext cx="36576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5" name="Text 42"/>
          <p:cNvSpPr txBox="1"/>
          <p:nvPr/>
        </p:nvSpPr>
        <p:spPr>
          <a:xfrm>
            <a:off x="10927080" y="1353312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O(n)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10927080" y="2221992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O(n)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10927080" y="3090672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O(n)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10927080" y="3959352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O(n)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5897880" y="1325880"/>
            <a:ext cx="0" cy="3017520"/>
          </a:xfrm>
          <a:prstGeom prst="line">
            <a:avLst/>
          </a:prstGeom>
          <a:noFill/>
          <a:ln w="25400">
            <a:solidFill>
              <a:srgbClr val="0B1F3A"/>
            </a:solidFill>
            <a:prstDash val="solid"/>
            <a:headEnd type="triangle"/>
            <a:tailEnd type="triangle"/>
          </a:ln>
        </p:spPr>
      </p:sp>
      <p:sp>
        <p:nvSpPr>
          <p:cNvPr id="50" name="Text 47"/>
          <p:cNvSpPr txBox="1"/>
          <p:nvPr/>
        </p:nvSpPr>
        <p:spPr>
          <a:xfrm rot="16200000">
            <a:off x="4297680" y="26746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height ≈ log₂ n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</a:rPr>
              <a:t>Halving gives about log₂ n levels, and merging at each level touches every element once (O(n)). Total work = O(n) × log₂ n.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457200" y="5257800"/>
            <a:ext cx="11247120" cy="1234440"/>
          </a:xfrm>
          <a:prstGeom prst="roundRect">
            <a:avLst>
              <a:gd name="adj" fmla="val 888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57200" y="532180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T(n) = 2T(n/2) + O(n)</a:t>
            </a:r>
            <a:endParaRPr lang="en-US" sz="34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8704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EEAD4"/>
                </a:solidFill>
              </a:rPr>
              <a:t>Therefore:  T(n) = O(n log n)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Applications of Merge Sort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94460" y="1371600"/>
            <a:ext cx="777240" cy="7772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316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Large Dataset Sorting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328416" y="12344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65676" y="1371600"/>
            <a:ext cx="777240" cy="7772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15316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19856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External Sorting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199632" y="12344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136892" y="1371600"/>
            <a:ext cx="777240" cy="7772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15316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91072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Linked List Sorting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9070848" y="12344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0008108" y="1371600"/>
            <a:ext cx="777240" cy="7772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8128" y="15316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62288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Stable Record Sorting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73152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BD5E1"/>
                </a:solidFill>
              </a:rPr>
              <a:t>UNSORTED ARRAY</a:t>
            </a:r>
            <a:endParaRPr lang="en-US" sz="1400" dirty="0"/>
          </a:p>
        </p:txBody>
      </p:sp>
      <p:sp>
        <p:nvSpPr>
          <p:cNvPr id="20" name="Cell 38"/>
          <p:cNvSpPr txBox="1"/>
          <p:nvPr/>
        </p:nvSpPr>
        <p:spPr>
          <a:xfrm>
            <a:off x="731520" y="3566160"/>
            <a:ext cx="548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38</a:t>
            </a:r>
            <a:endParaRPr lang="en-US" sz="1800" dirty="0"/>
          </a:p>
        </p:txBody>
      </p:sp>
      <p:sp>
        <p:nvSpPr>
          <p:cNvPr id="21" name="Cell 27"/>
          <p:cNvSpPr txBox="1"/>
          <p:nvPr/>
        </p:nvSpPr>
        <p:spPr>
          <a:xfrm>
            <a:off x="1280160" y="3566160"/>
            <a:ext cx="548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27</a:t>
            </a:r>
            <a:endParaRPr lang="en-US" sz="1800" dirty="0"/>
          </a:p>
        </p:txBody>
      </p:sp>
      <p:sp>
        <p:nvSpPr>
          <p:cNvPr id="22" name="Cell 43"/>
          <p:cNvSpPr txBox="1"/>
          <p:nvPr/>
        </p:nvSpPr>
        <p:spPr>
          <a:xfrm>
            <a:off x="1828800" y="3566160"/>
            <a:ext cx="548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43</a:t>
            </a:r>
            <a:endParaRPr lang="en-US" sz="1800" dirty="0"/>
          </a:p>
        </p:txBody>
      </p:sp>
      <p:sp>
        <p:nvSpPr>
          <p:cNvPr id="23" name="Cell 3"/>
          <p:cNvSpPr txBox="1"/>
          <p:nvPr/>
        </p:nvSpPr>
        <p:spPr>
          <a:xfrm>
            <a:off x="2377440" y="3566160"/>
            <a:ext cx="548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Cell 9"/>
          <p:cNvSpPr txBox="1"/>
          <p:nvPr/>
        </p:nvSpPr>
        <p:spPr>
          <a:xfrm>
            <a:off x="2926080" y="3566160"/>
            <a:ext cx="548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9</a:t>
            </a:r>
            <a:endParaRPr lang="en-US" sz="1800" dirty="0"/>
          </a:p>
        </p:txBody>
      </p:sp>
      <p:sp>
        <p:nvSpPr>
          <p:cNvPr id="25" name="Cell 82"/>
          <p:cNvSpPr txBox="1"/>
          <p:nvPr/>
        </p:nvSpPr>
        <p:spPr>
          <a:xfrm>
            <a:off x="3474720" y="3566160"/>
            <a:ext cx="548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82</a:t>
            </a:r>
            <a:endParaRPr lang="en-US" sz="1800" dirty="0"/>
          </a:p>
        </p:txBody>
      </p:sp>
      <p:sp>
        <p:nvSpPr>
          <p:cNvPr id="26" name="Cell 10"/>
          <p:cNvSpPr txBox="1"/>
          <p:nvPr/>
        </p:nvSpPr>
        <p:spPr>
          <a:xfrm>
            <a:off x="4023360" y="3566160"/>
            <a:ext cx="548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10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5029200" y="3566160"/>
            <a:ext cx="2103120" cy="566928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58952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EEAD4"/>
                </a:solidFill>
              </a:rPr>
              <a:t>SORTED ARRAY</a:t>
            </a:r>
            <a:endParaRPr lang="en-US" sz="1400" dirty="0"/>
          </a:p>
        </p:txBody>
      </p:sp>
      <p:sp>
        <p:nvSpPr>
          <p:cNvPr id="29" name="Cell 3"/>
          <p:cNvSpPr txBox="1"/>
          <p:nvPr/>
        </p:nvSpPr>
        <p:spPr>
          <a:xfrm>
            <a:off x="7589520" y="3566160"/>
            <a:ext cx="54864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3</a:t>
            </a:r>
            <a:endParaRPr lang="en-US" sz="1800" dirty="0"/>
          </a:p>
        </p:txBody>
      </p:sp>
      <p:sp>
        <p:nvSpPr>
          <p:cNvPr id="30" name="Cell 9"/>
          <p:cNvSpPr txBox="1"/>
          <p:nvPr/>
        </p:nvSpPr>
        <p:spPr>
          <a:xfrm>
            <a:off x="8138160" y="3566160"/>
            <a:ext cx="54864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9</a:t>
            </a:r>
            <a:endParaRPr lang="en-US" sz="1800" dirty="0"/>
          </a:p>
        </p:txBody>
      </p:sp>
      <p:sp>
        <p:nvSpPr>
          <p:cNvPr id="31" name="Cell 10"/>
          <p:cNvSpPr txBox="1"/>
          <p:nvPr/>
        </p:nvSpPr>
        <p:spPr>
          <a:xfrm>
            <a:off x="8686800" y="3566160"/>
            <a:ext cx="54864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10</a:t>
            </a:r>
            <a:endParaRPr lang="en-US" sz="1800" dirty="0"/>
          </a:p>
        </p:txBody>
      </p:sp>
      <p:sp>
        <p:nvSpPr>
          <p:cNvPr id="32" name="Cell 27"/>
          <p:cNvSpPr txBox="1"/>
          <p:nvPr/>
        </p:nvSpPr>
        <p:spPr>
          <a:xfrm>
            <a:off x="9235440" y="3566160"/>
            <a:ext cx="54864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27</a:t>
            </a:r>
            <a:endParaRPr lang="en-US" sz="1800" dirty="0"/>
          </a:p>
        </p:txBody>
      </p:sp>
      <p:sp>
        <p:nvSpPr>
          <p:cNvPr id="33" name="Cell 38"/>
          <p:cNvSpPr txBox="1"/>
          <p:nvPr/>
        </p:nvSpPr>
        <p:spPr>
          <a:xfrm>
            <a:off x="9784080" y="3566160"/>
            <a:ext cx="54864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38</a:t>
            </a:r>
            <a:endParaRPr lang="en-US" sz="1800" dirty="0"/>
          </a:p>
        </p:txBody>
      </p:sp>
      <p:sp>
        <p:nvSpPr>
          <p:cNvPr id="34" name="Cell 43"/>
          <p:cNvSpPr txBox="1"/>
          <p:nvPr/>
        </p:nvSpPr>
        <p:spPr>
          <a:xfrm>
            <a:off x="10332720" y="3566160"/>
            <a:ext cx="54864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43</a:t>
            </a:r>
            <a:endParaRPr lang="en-US" sz="1800" dirty="0"/>
          </a:p>
        </p:txBody>
      </p:sp>
      <p:sp>
        <p:nvSpPr>
          <p:cNvPr id="35" name="Cell 82"/>
          <p:cNvSpPr txBox="1"/>
          <p:nvPr/>
        </p:nvSpPr>
        <p:spPr>
          <a:xfrm>
            <a:off x="10881360" y="3566160"/>
            <a:ext cx="54864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82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731520" y="4480560"/>
            <a:ext cx="10725912" cy="1005840"/>
          </a:xfrm>
          <a:prstGeom prst="roundRect">
            <a:avLst>
              <a:gd name="adj" fmla="val 9091"/>
            </a:avLst>
          </a:prstGeom>
          <a:solidFill>
            <a:srgbClr val="12305A"/>
          </a:solidFill>
          <a:ln/>
        </p:spPr>
        <p:txBody>
          <a:bodyPr wrap="square" lIns="2540" tIns="2540" rIns="2540" bIns="254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FFFFFF"/>
                </a:solidFill>
              </a:rPr>
              <a:t>“Merge Sort is a stable Divide and Conquer algorithm with O(n log n) time complexity in the best, average, and worst cases.”</a:t>
            </a:r>
            <a:endParaRPr lang="en-US" sz="1900" dirty="0"/>
          </a:p>
        </p:txBody>
      </p:sp>
      <p:sp>
        <p:nvSpPr>
          <p:cNvPr id="37" name="Text 31"/>
          <p:cNvSpPr txBox="1"/>
          <p:nvPr/>
        </p:nvSpPr>
        <p:spPr>
          <a:xfrm>
            <a:off x="457200" y="57150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600" dirty="0">
                <a:solidFill>
                  <a:srgbClr val="5EEAD4"/>
                </a:solidFill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geSortNavyTeal">
  <a:themeElements>
    <a:clrScheme name="MergeSortNavyTeal">
      <a:dk1>
        <a:srgbClr val="0B1F3A"/>
      </a:dk1>
      <a:lt1>
        <a:srgbClr val="FFFFFF"/>
      </a:lt1>
      <a:dk2>
        <a:srgbClr val="12305A"/>
      </a:dk2>
      <a:lt2>
        <a:srgbClr val="F1F5F9"/>
      </a:lt2>
      <a:accent1>
        <a:srgbClr val="14B8A6"/>
      </a:accent1>
      <a:accent2>
        <a:srgbClr val="0F766E"/>
      </a:accent2>
      <a:accent3>
        <a:srgbClr val="CCFBF1"/>
      </a:accent3>
      <a:accent4>
        <a:srgbClr val="475569"/>
      </a:accent4>
      <a:accent5>
        <a:srgbClr val="94A3B8"/>
      </a:accent5>
      <a:accent6>
        <a:srgbClr val="12305A"/>
      </a:accent6>
      <a:hlink>
        <a:srgbClr val="14B8A6"/>
      </a:hlink>
      <a:folHlink>
        <a:srgbClr val="475569"/>
      </a:folHlink>
    </a:clrScheme>
    <a:fontScheme name="MergeSortNavyTe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875</Words>
  <Application>Microsoft Office PowerPoint</Application>
  <PresentationFormat>Widescreen</PresentationFormat>
  <Paragraphs>293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Courier New</vt:lpstr>
      <vt:lpstr>MergeSortNavyTeal</vt:lpstr>
      <vt:lpstr>MERGE SORT</vt:lpstr>
      <vt:lpstr>Understanding Merge Sort</vt:lpstr>
      <vt:lpstr>How the Algorithm Divides the Array</vt:lpstr>
      <vt:lpstr>Repeatedly Divide Until One Element Remains</vt:lpstr>
      <vt:lpstr>Merge Sorted Subarrays</vt:lpstr>
      <vt:lpstr>Merge Sort Algorithm</vt:lpstr>
      <vt:lpstr>Time and Space Complexity</vt:lpstr>
      <vt:lpstr>Applications of Merge Sort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 Sort — A Divide and Conquer Algorithm</dc:title>
  <dc:subject>PptxGenJS Presentation</dc:subject>
  <dc:creator>Sampada Suryawanshi</dc:creator>
  <cp:lastModifiedBy>sampada surywanshi</cp:lastModifiedBy>
  <cp:revision>2</cp:revision>
  <dcterms:created xsi:type="dcterms:W3CDTF">2026-10-19T10:09:09Z</dcterms:created>
  <dcterms:modified xsi:type="dcterms:W3CDTF">2026-10-20T05:16:56Z</dcterms:modified>
</cp:coreProperties>
</file>