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acb6f4c-91ec-002c-9b1f-b1a6da2d648a}">
          <p14:sldIdLst>
            <p14:sldId id="256"/>
            <p14:sldId id="257"/>
          </p14:sldIdLst>
        </p14:section>
        <p14:section name="Algorithm" id="{64d5194c-402b-575e-7918-c8a2d975682b}">
          <p14:sldIdLst>
            <p14:sldId id="258"/>
            <p14:sldId id="259"/>
            <p14:sldId id="260"/>
            <p14:sldId id="261"/>
          </p14:sldIdLst>
        </p14:section>
        <p14:section name="Analysis" id="{b830dcea-b17a-9057-00cf-a4d86c2cf6db}">
          <p14:sldIdLst>
            <p14:sldId id="262"/>
          </p14:sldIdLst>
        </p14:section>
        <p14:section name="Conclusion" id="{34c17889-f20e-cb39-7b56-60b3fa751018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The same 7-element array is used throughout this deck: [38, 27, 43, 3, 9, 82, 10].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sort divides the array, sorts each half recursively, then merges the sorted halves.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Recursion tree for [38, 27, 43, 3, 9, 82, 10]. The left half gets 4 elements and the right half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splits every subarray at the midpoint. A single element is already sorted, so recursion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Merging walks two pointers, one per sorted array, always taking the smaller front element.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recursive pseudocode. Right: the same logic as a flowchart. The YES branch is the base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Recurrence T(n) = 2T(n/2) + O(n) solves to O(n log n) by the Master theorem (case 2). Space is O(n) for the temporary merge arrays.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Applications and conclusion. Merge sort is stable and guarantees O(n log n) in every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91440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MERGE SORT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5EEAD4"/>
                </a:solidFill>
              </a:rPr>
              <a:t>A Divide and Conquer Approach to Sorting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5303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FFFFFF"/>
                </a:solidFill>
              </a:rPr>
              <a:t>Design and Analysis of Algorithms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B.Tech CSE — Semester III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CBD5E1"/>
                </a:solidFill>
              </a:rPr>
              <a:t>Symbiosis Institute of Technology, Nagpur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5EEAD4"/>
                </a:solidFill>
              </a:rPr>
              <a:t>Presented by: Sampada Suryawanshi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126480" y="822960"/>
            <a:ext cx="5577840" cy="5029200"/>
          </a:xfrm>
          <a:prstGeom prst="roundRect">
            <a:avLst>
              <a:gd name="adj" fmla="val 2727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91072" y="1097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BD5E1"/>
                </a:solidFill>
              </a:rPr>
              <a:t>UNSORTED INPUT</a:t>
            </a:r>
            <a:endParaRPr lang="en-US" sz="1400" dirty="0"/>
          </a:p>
        </p:txBody>
      </p:sp>
      <p:sp>
        <p:nvSpPr>
          <p:cNvPr id="7" name="Cell 38"/>
          <p:cNvSpPr txBox="1"/>
          <p:nvPr/>
        </p:nvSpPr>
        <p:spPr>
          <a:xfrm>
            <a:off x="6291072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38</a:t>
            </a:r>
            <a:endParaRPr lang="en-US" sz="2400" dirty="0"/>
          </a:p>
        </p:txBody>
      </p:sp>
      <p:sp>
        <p:nvSpPr>
          <p:cNvPr id="8" name="Cell 27"/>
          <p:cNvSpPr txBox="1"/>
          <p:nvPr/>
        </p:nvSpPr>
        <p:spPr>
          <a:xfrm>
            <a:off x="7040880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27</a:t>
            </a:r>
            <a:endParaRPr lang="en-US" sz="2400" dirty="0"/>
          </a:p>
        </p:txBody>
      </p:sp>
      <p:sp>
        <p:nvSpPr>
          <p:cNvPr id="9" name="Cell 43"/>
          <p:cNvSpPr txBox="1"/>
          <p:nvPr/>
        </p:nvSpPr>
        <p:spPr>
          <a:xfrm>
            <a:off x="7790688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43</a:t>
            </a:r>
            <a:endParaRPr lang="en-US" sz="2400" dirty="0"/>
          </a:p>
        </p:txBody>
      </p:sp>
      <p:sp>
        <p:nvSpPr>
          <p:cNvPr id="10" name="Cell 3"/>
          <p:cNvSpPr txBox="1"/>
          <p:nvPr/>
        </p:nvSpPr>
        <p:spPr>
          <a:xfrm>
            <a:off x="8540496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Cell 9"/>
          <p:cNvSpPr txBox="1"/>
          <p:nvPr/>
        </p:nvSpPr>
        <p:spPr>
          <a:xfrm>
            <a:off x="9290304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9</a:t>
            </a:r>
            <a:endParaRPr lang="en-US" sz="2400" dirty="0"/>
          </a:p>
        </p:txBody>
      </p:sp>
      <p:sp>
        <p:nvSpPr>
          <p:cNvPr id="12" name="Cell 82"/>
          <p:cNvSpPr txBox="1"/>
          <p:nvPr/>
        </p:nvSpPr>
        <p:spPr>
          <a:xfrm>
            <a:off x="10040112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82</a:t>
            </a:r>
            <a:endParaRPr lang="en-US" sz="2400" dirty="0"/>
          </a:p>
        </p:txBody>
      </p:sp>
      <p:sp>
        <p:nvSpPr>
          <p:cNvPr id="13" name="Cell 10"/>
          <p:cNvSpPr txBox="1"/>
          <p:nvPr/>
        </p:nvSpPr>
        <p:spPr>
          <a:xfrm>
            <a:off x="10789920" y="1508760"/>
            <a:ext cx="749808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10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458200" y="2560320"/>
            <a:ext cx="914400" cy="1371600"/>
          </a:xfrm>
          <a:prstGeom prst="down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55480" y="2971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Merge Sort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91072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</a:rPr>
              <a:t>SORTED OUTPUT</a:t>
            </a:r>
            <a:endParaRPr lang="en-US" sz="1400" dirty="0"/>
          </a:p>
        </p:txBody>
      </p:sp>
      <p:sp>
        <p:nvSpPr>
          <p:cNvPr id="17" name="Cell 3"/>
          <p:cNvSpPr txBox="1"/>
          <p:nvPr/>
        </p:nvSpPr>
        <p:spPr>
          <a:xfrm>
            <a:off x="6291072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Cell 9"/>
          <p:cNvSpPr txBox="1"/>
          <p:nvPr/>
        </p:nvSpPr>
        <p:spPr>
          <a:xfrm>
            <a:off x="7040880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9</a:t>
            </a:r>
            <a:endParaRPr lang="en-US" sz="2400" dirty="0"/>
          </a:p>
        </p:txBody>
      </p:sp>
      <p:sp>
        <p:nvSpPr>
          <p:cNvPr id="19" name="Cell 10"/>
          <p:cNvSpPr txBox="1"/>
          <p:nvPr/>
        </p:nvSpPr>
        <p:spPr>
          <a:xfrm>
            <a:off x="7790688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10</a:t>
            </a:r>
            <a:endParaRPr lang="en-US" sz="2400" dirty="0"/>
          </a:p>
        </p:txBody>
      </p:sp>
      <p:sp>
        <p:nvSpPr>
          <p:cNvPr id="20" name="Cell 27"/>
          <p:cNvSpPr txBox="1"/>
          <p:nvPr/>
        </p:nvSpPr>
        <p:spPr>
          <a:xfrm>
            <a:off x="8540496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27</a:t>
            </a:r>
            <a:endParaRPr lang="en-US" sz="2400" dirty="0"/>
          </a:p>
        </p:txBody>
      </p:sp>
      <p:sp>
        <p:nvSpPr>
          <p:cNvPr id="21" name="Cell 38"/>
          <p:cNvSpPr txBox="1"/>
          <p:nvPr/>
        </p:nvSpPr>
        <p:spPr>
          <a:xfrm>
            <a:off x="9290304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38</a:t>
            </a:r>
            <a:endParaRPr lang="en-US" sz="2400" dirty="0"/>
          </a:p>
        </p:txBody>
      </p:sp>
      <p:sp>
        <p:nvSpPr>
          <p:cNvPr id="22" name="Cell 43"/>
          <p:cNvSpPr txBox="1"/>
          <p:nvPr/>
        </p:nvSpPr>
        <p:spPr>
          <a:xfrm>
            <a:off x="10040112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43</a:t>
            </a:r>
            <a:endParaRPr lang="en-US" sz="2400" dirty="0"/>
          </a:p>
        </p:txBody>
      </p:sp>
      <p:sp>
        <p:nvSpPr>
          <p:cNvPr id="23" name="Cell 82"/>
          <p:cNvSpPr txBox="1"/>
          <p:nvPr/>
        </p:nvSpPr>
        <p:spPr>
          <a:xfrm>
            <a:off x="10789920" y="4572000"/>
            <a:ext cx="749808" cy="74980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A"/>
                </a:solidFill>
              </a:rPr>
              <a:t>82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Understanding Merge Sort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429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3017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Comparison-based sorting algorithm.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Follows the Divide and Conquer paradigm.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Divides the array into smaller subarrays.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Recursively sorts and merges them.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0B1F3A"/>
                </a:solidFill>
              </a:rPr>
              <a:t>Time complexity: O(n log n).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60520" y="1371600"/>
            <a:ext cx="2286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160520" y="1371600"/>
            <a:ext cx="2286000" cy="5486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DIVIDE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Split the array into two halves</a:t>
            </a:r>
            <a:endParaRPr lang="en-US" sz="1500" dirty="0"/>
          </a:p>
        </p:txBody>
      </p:sp>
      <p:sp>
        <p:nvSpPr>
          <p:cNvPr id="8" name="Cell 38"/>
          <p:cNvSpPr txBox="1"/>
          <p:nvPr/>
        </p:nvSpPr>
        <p:spPr>
          <a:xfrm>
            <a:off x="434340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9" name="Cell 27"/>
          <p:cNvSpPr txBox="1"/>
          <p:nvPr/>
        </p:nvSpPr>
        <p:spPr>
          <a:xfrm>
            <a:off x="461772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10" name="Cell 43"/>
          <p:cNvSpPr txBox="1"/>
          <p:nvPr/>
        </p:nvSpPr>
        <p:spPr>
          <a:xfrm>
            <a:off x="489204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11" name="Cell 3"/>
          <p:cNvSpPr txBox="1"/>
          <p:nvPr/>
        </p:nvSpPr>
        <p:spPr>
          <a:xfrm>
            <a:off x="516636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Cell 9"/>
          <p:cNvSpPr txBox="1"/>
          <p:nvPr/>
        </p:nvSpPr>
        <p:spPr>
          <a:xfrm>
            <a:off x="544068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13" name="Cell 82"/>
          <p:cNvSpPr txBox="1"/>
          <p:nvPr/>
        </p:nvSpPr>
        <p:spPr>
          <a:xfrm>
            <a:off x="571500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14" name="Cell 10"/>
          <p:cNvSpPr txBox="1"/>
          <p:nvPr/>
        </p:nvSpPr>
        <p:spPr>
          <a:xfrm>
            <a:off x="598932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15" name="Cell 38"/>
          <p:cNvSpPr txBox="1"/>
          <p:nvPr/>
        </p:nvSpPr>
        <p:spPr>
          <a:xfrm>
            <a:off x="422910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16" name="Cell 27"/>
          <p:cNvSpPr txBox="1"/>
          <p:nvPr/>
        </p:nvSpPr>
        <p:spPr>
          <a:xfrm>
            <a:off x="450342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17" name="Cell 43"/>
          <p:cNvSpPr txBox="1"/>
          <p:nvPr/>
        </p:nvSpPr>
        <p:spPr>
          <a:xfrm>
            <a:off x="477774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18" name="Cell 3"/>
          <p:cNvSpPr txBox="1"/>
          <p:nvPr/>
        </p:nvSpPr>
        <p:spPr>
          <a:xfrm>
            <a:off x="505206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Cell 9"/>
          <p:cNvSpPr txBox="1"/>
          <p:nvPr/>
        </p:nvSpPr>
        <p:spPr>
          <a:xfrm>
            <a:off x="555498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20" name="Cell 82"/>
          <p:cNvSpPr txBox="1"/>
          <p:nvPr/>
        </p:nvSpPr>
        <p:spPr>
          <a:xfrm>
            <a:off x="582930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21" name="Cell 10"/>
          <p:cNvSpPr txBox="1"/>
          <p:nvPr/>
        </p:nvSpPr>
        <p:spPr>
          <a:xfrm>
            <a:off x="6103620" y="39319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flipH="1">
            <a:off x="4777740" y="2670048"/>
            <a:ext cx="11430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715000" y="2670048"/>
            <a:ext cx="25146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297680" y="4526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</a:rPr>
              <a:t>…until size 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73952" y="4087368"/>
            <a:ext cx="310896" cy="0"/>
          </a:xfrm>
          <a:prstGeom prst="line">
            <a:avLst/>
          </a:prstGeom>
          <a:noFill/>
          <a:ln w="635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12280" y="1371600"/>
            <a:ext cx="2286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12280" y="1371600"/>
            <a:ext cx="2286000" cy="5486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CONQUER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Recursively sort each half</a:t>
            </a:r>
            <a:endParaRPr lang="en-US" sz="1500" dirty="0"/>
          </a:p>
        </p:txBody>
      </p:sp>
      <p:sp>
        <p:nvSpPr>
          <p:cNvPr id="29" name="Cell 38"/>
          <p:cNvSpPr txBox="1"/>
          <p:nvPr/>
        </p:nvSpPr>
        <p:spPr>
          <a:xfrm>
            <a:off x="688086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30" name="Cell 27"/>
          <p:cNvSpPr txBox="1"/>
          <p:nvPr/>
        </p:nvSpPr>
        <p:spPr>
          <a:xfrm>
            <a:off x="715518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31" name="Cell 43"/>
          <p:cNvSpPr txBox="1"/>
          <p:nvPr/>
        </p:nvSpPr>
        <p:spPr>
          <a:xfrm>
            <a:off x="742950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32" name="Cell 3"/>
          <p:cNvSpPr txBox="1"/>
          <p:nvPr/>
        </p:nvSpPr>
        <p:spPr>
          <a:xfrm>
            <a:off x="770382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Cell 9"/>
          <p:cNvSpPr txBox="1"/>
          <p:nvPr/>
        </p:nvSpPr>
        <p:spPr>
          <a:xfrm>
            <a:off x="820674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34" name="Cell 82"/>
          <p:cNvSpPr txBox="1"/>
          <p:nvPr/>
        </p:nvSpPr>
        <p:spPr>
          <a:xfrm>
            <a:off x="848106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35" name="Cell 10"/>
          <p:cNvSpPr txBox="1"/>
          <p:nvPr/>
        </p:nvSpPr>
        <p:spPr>
          <a:xfrm>
            <a:off x="8755380" y="2331720"/>
            <a:ext cx="27432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29500" y="2670048"/>
            <a:ext cx="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18220" y="2670048"/>
            <a:ext cx="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995160" y="29260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66E"/>
                </a:solidFill>
              </a:rPr>
              <a:t>sort</a:t>
            </a:r>
            <a:endParaRPr lang="en-US" sz="1300" dirty="0"/>
          </a:p>
        </p:txBody>
      </p:sp>
      <p:sp>
        <p:nvSpPr>
          <p:cNvPr id="39" name="Cell 3"/>
          <p:cNvSpPr txBox="1"/>
          <p:nvPr/>
        </p:nvSpPr>
        <p:spPr>
          <a:xfrm>
            <a:off x="688086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Cell 27"/>
          <p:cNvSpPr txBox="1"/>
          <p:nvPr/>
        </p:nvSpPr>
        <p:spPr>
          <a:xfrm>
            <a:off x="715518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41" name="Cell 38"/>
          <p:cNvSpPr txBox="1"/>
          <p:nvPr/>
        </p:nvSpPr>
        <p:spPr>
          <a:xfrm>
            <a:off x="742950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42" name="Cell 43"/>
          <p:cNvSpPr txBox="1"/>
          <p:nvPr/>
        </p:nvSpPr>
        <p:spPr>
          <a:xfrm>
            <a:off x="770382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43" name="Cell 9"/>
          <p:cNvSpPr txBox="1"/>
          <p:nvPr/>
        </p:nvSpPr>
        <p:spPr>
          <a:xfrm>
            <a:off x="820674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44" name="Cell 10"/>
          <p:cNvSpPr txBox="1"/>
          <p:nvPr/>
        </p:nvSpPr>
        <p:spPr>
          <a:xfrm>
            <a:off x="848106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45" name="Cell 82"/>
          <p:cNvSpPr txBox="1"/>
          <p:nvPr/>
        </p:nvSpPr>
        <p:spPr>
          <a:xfrm>
            <a:off x="8755380" y="39319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25712" y="4087368"/>
            <a:ext cx="310896" cy="0"/>
          </a:xfrm>
          <a:prstGeom prst="line">
            <a:avLst/>
          </a:prstGeom>
          <a:noFill/>
          <a:ln w="635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464040" y="1371600"/>
            <a:ext cx="22860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464040" y="1371600"/>
            <a:ext cx="2286000" cy="548640"/>
          </a:xfrm>
          <a:prstGeom prst="rect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MERGE</a:t>
            </a:r>
            <a:endParaRPr lang="en-US" sz="2000" dirty="0"/>
          </a:p>
        </p:txBody>
      </p:sp>
      <p:sp>
        <p:nvSpPr>
          <p:cNvPr id="49" name="Text 47"/>
          <p:cNvSpPr txBox="1"/>
          <p:nvPr/>
        </p:nvSpPr>
        <p:spPr>
          <a:xfrm>
            <a:off x="9601200" y="50749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Merge sorted halves into one sorted array</a:t>
            </a:r>
            <a:endParaRPr lang="en-US" sz="1500" dirty="0"/>
          </a:p>
        </p:txBody>
      </p:sp>
      <p:sp>
        <p:nvSpPr>
          <p:cNvPr id="50" name="Cell 3"/>
          <p:cNvSpPr txBox="1"/>
          <p:nvPr/>
        </p:nvSpPr>
        <p:spPr>
          <a:xfrm>
            <a:off x="953262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51" name="Cell 27"/>
          <p:cNvSpPr txBox="1"/>
          <p:nvPr/>
        </p:nvSpPr>
        <p:spPr>
          <a:xfrm>
            <a:off x="980694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52" name="Cell 38"/>
          <p:cNvSpPr txBox="1"/>
          <p:nvPr/>
        </p:nvSpPr>
        <p:spPr>
          <a:xfrm>
            <a:off x="1008126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53" name="Cell 43"/>
          <p:cNvSpPr txBox="1"/>
          <p:nvPr/>
        </p:nvSpPr>
        <p:spPr>
          <a:xfrm>
            <a:off x="1035558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54" name="Cell 9"/>
          <p:cNvSpPr txBox="1"/>
          <p:nvPr/>
        </p:nvSpPr>
        <p:spPr>
          <a:xfrm>
            <a:off x="1085850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55" name="Cell 10"/>
          <p:cNvSpPr txBox="1"/>
          <p:nvPr/>
        </p:nvSpPr>
        <p:spPr>
          <a:xfrm>
            <a:off x="1113282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56" name="Cell 82"/>
          <p:cNvSpPr txBox="1"/>
          <p:nvPr/>
        </p:nvSpPr>
        <p:spPr>
          <a:xfrm>
            <a:off x="11407140" y="2331720"/>
            <a:ext cx="274320" cy="310896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57" name="Cell 3"/>
          <p:cNvSpPr txBox="1"/>
          <p:nvPr/>
        </p:nvSpPr>
        <p:spPr>
          <a:xfrm>
            <a:off x="964692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</a:t>
            </a:r>
            <a:endParaRPr lang="en-US" sz="1100" dirty="0"/>
          </a:p>
        </p:txBody>
      </p:sp>
      <p:sp>
        <p:nvSpPr>
          <p:cNvPr id="58" name="Cell 9"/>
          <p:cNvSpPr txBox="1"/>
          <p:nvPr/>
        </p:nvSpPr>
        <p:spPr>
          <a:xfrm>
            <a:off x="992124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9</a:t>
            </a:r>
            <a:endParaRPr lang="en-US" sz="1100" dirty="0"/>
          </a:p>
        </p:txBody>
      </p:sp>
      <p:sp>
        <p:nvSpPr>
          <p:cNvPr id="59" name="Cell 10"/>
          <p:cNvSpPr txBox="1"/>
          <p:nvPr/>
        </p:nvSpPr>
        <p:spPr>
          <a:xfrm>
            <a:off x="1019556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10</a:t>
            </a:r>
            <a:endParaRPr lang="en-US" sz="1100" dirty="0"/>
          </a:p>
        </p:txBody>
      </p:sp>
      <p:sp>
        <p:nvSpPr>
          <p:cNvPr id="60" name="Cell 27"/>
          <p:cNvSpPr txBox="1"/>
          <p:nvPr/>
        </p:nvSpPr>
        <p:spPr>
          <a:xfrm>
            <a:off x="1046988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27</a:t>
            </a:r>
            <a:endParaRPr lang="en-US" sz="1100" dirty="0"/>
          </a:p>
        </p:txBody>
      </p:sp>
      <p:sp>
        <p:nvSpPr>
          <p:cNvPr id="61" name="Cell 38"/>
          <p:cNvSpPr txBox="1"/>
          <p:nvPr/>
        </p:nvSpPr>
        <p:spPr>
          <a:xfrm>
            <a:off x="1074420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38</a:t>
            </a:r>
            <a:endParaRPr lang="en-US" sz="1100" dirty="0"/>
          </a:p>
        </p:txBody>
      </p:sp>
      <p:sp>
        <p:nvSpPr>
          <p:cNvPr id="62" name="Cell 43"/>
          <p:cNvSpPr txBox="1"/>
          <p:nvPr/>
        </p:nvSpPr>
        <p:spPr>
          <a:xfrm>
            <a:off x="1101852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43</a:t>
            </a:r>
            <a:endParaRPr lang="en-US" sz="1100" dirty="0"/>
          </a:p>
        </p:txBody>
      </p:sp>
      <p:sp>
        <p:nvSpPr>
          <p:cNvPr id="63" name="Cell 82"/>
          <p:cNvSpPr txBox="1"/>
          <p:nvPr/>
        </p:nvSpPr>
        <p:spPr>
          <a:xfrm>
            <a:off x="11292840" y="3931920"/>
            <a:ext cx="274320" cy="310896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82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0081260" y="2670048"/>
            <a:ext cx="11430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 flipH="1">
            <a:off x="11018520" y="2670048"/>
            <a:ext cx="251460" cy="123444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How the Algorithm Divides the Array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Root (n = 7)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14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Level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033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Level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92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</a:rPr>
              <a:t>Level 3 (size 1)</a:t>
            </a:r>
            <a:endParaRPr lang="en-US" sz="1300" dirty="0"/>
          </a:p>
        </p:txBody>
      </p:sp>
      <p:sp>
        <p:nvSpPr>
          <p:cNvPr id="7" name="Cell 38"/>
          <p:cNvSpPr txBox="1"/>
          <p:nvPr/>
        </p:nvSpPr>
        <p:spPr>
          <a:xfrm>
            <a:off x="404622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38</a:t>
            </a:r>
            <a:endParaRPr lang="en-US" sz="2200" dirty="0"/>
          </a:p>
        </p:txBody>
      </p:sp>
      <p:sp>
        <p:nvSpPr>
          <p:cNvPr id="8" name="Cell 27"/>
          <p:cNvSpPr txBox="1"/>
          <p:nvPr/>
        </p:nvSpPr>
        <p:spPr>
          <a:xfrm>
            <a:off x="477774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9" name="Cell 43"/>
          <p:cNvSpPr txBox="1"/>
          <p:nvPr/>
        </p:nvSpPr>
        <p:spPr>
          <a:xfrm>
            <a:off x="550926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43</a:t>
            </a:r>
            <a:endParaRPr lang="en-US" sz="2200" dirty="0"/>
          </a:p>
        </p:txBody>
      </p:sp>
      <p:sp>
        <p:nvSpPr>
          <p:cNvPr id="10" name="Cell 3"/>
          <p:cNvSpPr txBox="1"/>
          <p:nvPr/>
        </p:nvSpPr>
        <p:spPr>
          <a:xfrm>
            <a:off x="624078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Cell 9"/>
          <p:cNvSpPr txBox="1"/>
          <p:nvPr/>
        </p:nvSpPr>
        <p:spPr>
          <a:xfrm>
            <a:off x="697230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9</a:t>
            </a:r>
            <a:endParaRPr lang="en-US" sz="2200" dirty="0"/>
          </a:p>
        </p:txBody>
      </p:sp>
      <p:sp>
        <p:nvSpPr>
          <p:cNvPr id="12" name="Cell 82"/>
          <p:cNvSpPr txBox="1"/>
          <p:nvPr/>
        </p:nvSpPr>
        <p:spPr>
          <a:xfrm>
            <a:off x="770382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82</a:t>
            </a:r>
            <a:endParaRPr lang="en-US" sz="2200" dirty="0"/>
          </a:p>
        </p:txBody>
      </p:sp>
      <p:sp>
        <p:nvSpPr>
          <p:cNvPr id="13" name="Cell 10"/>
          <p:cNvSpPr txBox="1"/>
          <p:nvPr/>
        </p:nvSpPr>
        <p:spPr>
          <a:xfrm>
            <a:off x="8435340" y="132588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10</a:t>
            </a:r>
            <a:endParaRPr lang="en-US" sz="2200" dirty="0"/>
          </a:p>
        </p:txBody>
      </p:sp>
      <p:sp>
        <p:nvSpPr>
          <p:cNvPr id="14" name="Cell 38"/>
          <p:cNvSpPr txBox="1"/>
          <p:nvPr/>
        </p:nvSpPr>
        <p:spPr>
          <a:xfrm>
            <a:off x="278892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38</a:t>
            </a:r>
            <a:endParaRPr lang="en-US" sz="2200" dirty="0"/>
          </a:p>
        </p:txBody>
      </p:sp>
      <p:sp>
        <p:nvSpPr>
          <p:cNvPr id="15" name="Cell 27"/>
          <p:cNvSpPr txBox="1"/>
          <p:nvPr/>
        </p:nvSpPr>
        <p:spPr>
          <a:xfrm>
            <a:off x="352044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16" name="Cell 43"/>
          <p:cNvSpPr txBox="1"/>
          <p:nvPr/>
        </p:nvSpPr>
        <p:spPr>
          <a:xfrm>
            <a:off x="425196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43</a:t>
            </a:r>
            <a:endParaRPr lang="en-US" sz="2200" dirty="0"/>
          </a:p>
        </p:txBody>
      </p:sp>
      <p:sp>
        <p:nvSpPr>
          <p:cNvPr id="17" name="Cell 3"/>
          <p:cNvSpPr txBox="1"/>
          <p:nvPr/>
        </p:nvSpPr>
        <p:spPr>
          <a:xfrm>
            <a:off x="498348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Cell 9"/>
          <p:cNvSpPr txBox="1"/>
          <p:nvPr/>
        </p:nvSpPr>
        <p:spPr>
          <a:xfrm>
            <a:off x="786384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9</a:t>
            </a:r>
            <a:endParaRPr lang="en-US" sz="2200" dirty="0"/>
          </a:p>
        </p:txBody>
      </p:sp>
      <p:sp>
        <p:nvSpPr>
          <p:cNvPr id="19" name="Cell 82"/>
          <p:cNvSpPr txBox="1"/>
          <p:nvPr/>
        </p:nvSpPr>
        <p:spPr>
          <a:xfrm>
            <a:off x="859536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82</a:t>
            </a:r>
            <a:endParaRPr lang="en-US" sz="2200" dirty="0"/>
          </a:p>
        </p:txBody>
      </p:sp>
      <p:sp>
        <p:nvSpPr>
          <p:cNvPr id="20" name="Cell 10"/>
          <p:cNvSpPr txBox="1"/>
          <p:nvPr/>
        </p:nvSpPr>
        <p:spPr>
          <a:xfrm>
            <a:off x="9326880" y="251460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10</a:t>
            </a:r>
            <a:endParaRPr lang="en-US" sz="2200" dirty="0"/>
          </a:p>
        </p:txBody>
      </p:sp>
      <p:sp>
        <p:nvSpPr>
          <p:cNvPr id="21" name="Cell 38"/>
          <p:cNvSpPr txBox="1"/>
          <p:nvPr/>
        </p:nvSpPr>
        <p:spPr>
          <a:xfrm>
            <a:off x="233172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38</a:t>
            </a:r>
            <a:endParaRPr lang="en-US" sz="2200" dirty="0"/>
          </a:p>
        </p:txBody>
      </p:sp>
      <p:sp>
        <p:nvSpPr>
          <p:cNvPr id="22" name="Cell 27"/>
          <p:cNvSpPr txBox="1"/>
          <p:nvPr/>
        </p:nvSpPr>
        <p:spPr>
          <a:xfrm>
            <a:off x="306324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23" name="Cell 43"/>
          <p:cNvSpPr txBox="1"/>
          <p:nvPr/>
        </p:nvSpPr>
        <p:spPr>
          <a:xfrm>
            <a:off x="470916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43</a:t>
            </a:r>
            <a:endParaRPr lang="en-US" sz="2200" dirty="0"/>
          </a:p>
        </p:txBody>
      </p:sp>
      <p:sp>
        <p:nvSpPr>
          <p:cNvPr id="24" name="Cell 3"/>
          <p:cNvSpPr txBox="1"/>
          <p:nvPr/>
        </p:nvSpPr>
        <p:spPr>
          <a:xfrm>
            <a:off x="544068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25" name="Cell 9"/>
          <p:cNvSpPr txBox="1"/>
          <p:nvPr/>
        </p:nvSpPr>
        <p:spPr>
          <a:xfrm>
            <a:off x="763524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9</a:t>
            </a:r>
            <a:endParaRPr lang="en-US" sz="2200" dirty="0"/>
          </a:p>
        </p:txBody>
      </p:sp>
      <p:sp>
        <p:nvSpPr>
          <p:cNvPr id="26" name="Cell 82"/>
          <p:cNvSpPr txBox="1"/>
          <p:nvPr/>
        </p:nvSpPr>
        <p:spPr>
          <a:xfrm>
            <a:off x="836676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82</a:t>
            </a:r>
            <a:endParaRPr lang="en-US" sz="2200" dirty="0"/>
          </a:p>
        </p:txBody>
      </p:sp>
      <p:sp>
        <p:nvSpPr>
          <p:cNvPr id="27" name="Cell 10"/>
          <p:cNvSpPr txBox="1"/>
          <p:nvPr/>
        </p:nvSpPr>
        <p:spPr>
          <a:xfrm>
            <a:off x="9784080" y="370332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10</a:t>
            </a:r>
            <a:endParaRPr lang="en-US" sz="2200" dirty="0"/>
          </a:p>
        </p:txBody>
      </p:sp>
      <p:sp>
        <p:nvSpPr>
          <p:cNvPr id="28" name="Cell 38"/>
          <p:cNvSpPr txBox="1"/>
          <p:nvPr/>
        </p:nvSpPr>
        <p:spPr>
          <a:xfrm>
            <a:off x="210312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38</a:t>
            </a:r>
            <a:endParaRPr lang="en-US" sz="2200" dirty="0"/>
          </a:p>
        </p:txBody>
      </p:sp>
      <p:sp>
        <p:nvSpPr>
          <p:cNvPr id="29" name="Cell 27"/>
          <p:cNvSpPr txBox="1"/>
          <p:nvPr/>
        </p:nvSpPr>
        <p:spPr>
          <a:xfrm>
            <a:off x="329184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27</a:t>
            </a:r>
            <a:endParaRPr lang="en-US" sz="2200" dirty="0"/>
          </a:p>
        </p:txBody>
      </p:sp>
      <p:sp>
        <p:nvSpPr>
          <p:cNvPr id="30" name="Cell 43"/>
          <p:cNvSpPr txBox="1"/>
          <p:nvPr/>
        </p:nvSpPr>
        <p:spPr>
          <a:xfrm>
            <a:off x="448056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43</a:t>
            </a:r>
            <a:endParaRPr lang="en-US" sz="2200" dirty="0"/>
          </a:p>
        </p:txBody>
      </p:sp>
      <p:sp>
        <p:nvSpPr>
          <p:cNvPr id="31" name="Cell 3"/>
          <p:cNvSpPr txBox="1"/>
          <p:nvPr/>
        </p:nvSpPr>
        <p:spPr>
          <a:xfrm>
            <a:off x="566928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3</a:t>
            </a:r>
            <a:endParaRPr lang="en-US" sz="2200" dirty="0"/>
          </a:p>
        </p:txBody>
      </p:sp>
      <p:sp>
        <p:nvSpPr>
          <p:cNvPr id="32" name="Cell 9"/>
          <p:cNvSpPr txBox="1"/>
          <p:nvPr/>
        </p:nvSpPr>
        <p:spPr>
          <a:xfrm>
            <a:off x="740664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9</a:t>
            </a:r>
            <a:endParaRPr lang="en-US" sz="2200" dirty="0"/>
          </a:p>
        </p:txBody>
      </p:sp>
      <p:sp>
        <p:nvSpPr>
          <p:cNvPr id="33" name="Cell 82"/>
          <p:cNvSpPr txBox="1"/>
          <p:nvPr/>
        </p:nvSpPr>
        <p:spPr>
          <a:xfrm>
            <a:off x="859536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82</a:t>
            </a:r>
            <a:endParaRPr lang="en-US" sz="2200" dirty="0"/>
          </a:p>
        </p:txBody>
      </p:sp>
      <p:sp>
        <p:nvSpPr>
          <p:cNvPr id="34" name="Cell 10"/>
          <p:cNvSpPr txBox="1"/>
          <p:nvPr/>
        </p:nvSpPr>
        <p:spPr>
          <a:xfrm>
            <a:off x="9784080" y="4892040"/>
            <a:ext cx="73152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10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 flipH="1">
            <a:off x="4251960" y="1993392"/>
            <a:ext cx="2286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938260" y="1993392"/>
            <a:ext cx="2286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063240" y="3182112"/>
            <a:ext cx="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5440680" y="3182112"/>
            <a:ext cx="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366760" y="3182112"/>
            <a:ext cx="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829800" y="3182112"/>
            <a:ext cx="3200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246888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56616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484632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94360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777240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869680" y="4370832"/>
            <a:ext cx="9144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149840" y="4370832"/>
            <a:ext cx="0" cy="493776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7 elements need 3 levels of splitting (⌈log₂ 7⌉ = 3) before every subarray has one element.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Repeatedly Divide Until One Element Remains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2588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INPUT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42316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FIRST DIVISION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52044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SECOND DIVISION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617720"/>
            <a:ext cx="210312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FINAL DIVISION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508760" y="192024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08760" y="301752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08760" y="411480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Cell 38"/>
          <p:cNvSpPr txBox="1"/>
          <p:nvPr/>
        </p:nvSpPr>
        <p:spPr>
          <a:xfrm>
            <a:off x="457200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11" name="Cell 27"/>
          <p:cNvSpPr txBox="1"/>
          <p:nvPr/>
        </p:nvSpPr>
        <p:spPr>
          <a:xfrm>
            <a:off x="530352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12" name="Cell 43"/>
          <p:cNvSpPr txBox="1"/>
          <p:nvPr/>
        </p:nvSpPr>
        <p:spPr>
          <a:xfrm>
            <a:off x="603504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13" name="Cell 3"/>
          <p:cNvSpPr txBox="1"/>
          <p:nvPr/>
        </p:nvSpPr>
        <p:spPr>
          <a:xfrm>
            <a:off x="676656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Cell 9"/>
          <p:cNvSpPr txBox="1"/>
          <p:nvPr/>
        </p:nvSpPr>
        <p:spPr>
          <a:xfrm>
            <a:off x="749808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15" name="Cell 82"/>
          <p:cNvSpPr txBox="1"/>
          <p:nvPr/>
        </p:nvSpPr>
        <p:spPr>
          <a:xfrm>
            <a:off x="822960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16" name="Cell 10"/>
          <p:cNvSpPr txBox="1"/>
          <p:nvPr/>
        </p:nvSpPr>
        <p:spPr>
          <a:xfrm>
            <a:off x="896112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17" name="Cell 38"/>
          <p:cNvSpPr txBox="1"/>
          <p:nvPr/>
        </p:nvSpPr>
        <p:spPr>
          <a:xfrm>
            <a:off x="347472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18" name="Cell 27"/>
          <p:cNvSpPr txBox="1"/>
          <p:nvPr/>
        </p:nvSpPr>
        <p:spPr>
          <a:xfrm>
            <a:off x="420624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19" name="Cell 43"/>
          <p:cNvSpPr txBox="1"/>
          <p:nvPr/>
        </p:nvSpPr>
        <p:spPr>
          <a:xfrm>
            <a:off x="493776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20" name="Cell 3"/>
          <p:cNvSpPr txBox="1"/>
          <p:nvPr/>
        </p:nvSpPr>
        <p:spPr>
          <a:xfrm>
            <a:off x="566928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Cell 9"/>
          <p:cNvSpPr txBox="1"/>
          <p:nvPr/>
        </p:nvSpPr>
        <p:spPr>
          <a:xfrm>
            <a:off x="822960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22" name="Cell 82"/>
          <p:cNvSpPr txBox="1"/>
          <p:nvPr/>
        </p:nvSpPr>
        <p:spPr>
          <a:xfrm>
            <a:off x="896112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23" name="Cell 10"/>
          <p:cNvSpPr txBox="1"/>
          <p:nvPr/>
        </p:nvSpPr>
        <p:spPr>
          <a:xfrm>
            <a:off x="9692640" y="242316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24" name="Cell 38"/>
          <p:cNvSpPr txBox="1"/>
          <p:nvPr/>
        </p:nvSpPr>
        <p:spPr>
          <a:xfrm>
            <a:off x="310896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25" name="Cell 27"/>
          <p:cNvSpPr txBox="1"/>
          <p:nvPr/>
        </p:nvSpPr>
        <p:spPr>
          <a:xfrm>
            <a:off x="384048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26" name="Cell 43"/>
          <p:cNvSpPr txBox="1"/>
          <p:nvPr/>
        </p:nvSpPr>
        <p:spPr>
          <a:xfrm>
            <a:off x="530352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27" name="Cell 3"/>
          <p:cNvSpPr txBox="1"/>
          <p:nvPr/>
        </p:nvSpPr>
        <p:spPr>
          <a:xfrm>
            <a:off x="603504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28" name="Cell 9"/>
          <p:cNvSpPr txBox="1"/>
          <p:nvPr/>
        </p:nvSpPr>
        <p:spPr>
          <a:xfrm>
            <a:off x="804672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29" name="Cell 82"/>
          <p:cNvSpPr txBox="1"/>
          <p:nvPr/>
        </p:nvSpPr>
        <p:spPr>
          <a:xfrm>
            <a:off x="877824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30" name="Cell 10"/>
          <p:cNvSpPr txBox="1"/>
          <p:nvPr/>
        </p:nvSpPr>
        <p:spPr>
          <a:xfrm>
            <a:off x="10058400" y="352044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31" name="Cell 38"/>
          <p:cNvSpPr txBox="1"/>
          <p:nvPr/>
        </p:nvSpPr>
        <p:spPr>
          <a:xfrm>
            <a:off x="292608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32" name="Cell 27"/>
          <p:cNvSpPr txBox="1"/>
          <p:nvPr/>
        </p:nvSpPr>
        <p:spPr>
          <a:xfrm>
            <a:off x="402336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33" name="Cell 43"/>
          <p:cNvSpPr txBox="1"/>
          <p:nvPr/>
        </p:nvSpPr>
        <p:spPr>
          <a:xfrm>
            <a:off x="512064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34" name="Cell 3"/>
          <p:cNvSpPr txBox="1"/>
          <p:nvPr/>
        </p:nvSpPr>
        <p:spPr>
          <a:xfrm>
            <a:off x="621792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35" name="Cell 9"/>
          <p:cNvSpPr txBox="1"/>
          <p:nvPr/>
        </p:nvSpPr>
        <p:spPr>
          <a:xfrm>
            <a:off x="786384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36" name="Cell 82"/>
          <p:cNvSpPr txBox="1"/>
          <p:nvPr/>
        </p:nvSpPr>
        <p:spPr>
          <a:xfrm>
            <a:off x="896112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37" name="Cell 10"/>
          <p:cNvSpPr txBox="1"/>
          <p:nvPr/>
        </p:nvSpPr>
        <p:spPr>
          <a:xfrm>
            <a:off x="10058400" y="461772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7315200" y="192024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7452360" y="191109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F766E"/>
                </a:solidFill>
              </a:rPr>
              <a:t>split at mid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937760" y="301752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784080" y="301752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840480" y="411480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035040" y="411480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778240" y="4114800"/>
            <a:ext cx="0" cy="475488"/>
          </a:xfrm>
          <a:prstGeom prst="line">
            <a:avLst/>
          </a:prstGeom>
          <a:noFill/>
          <a:ln w="508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3017520" y="55778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Division stops when each subarray has exactly one element.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Merge Sorted Subarrays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132588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SINGLE ELEMENTS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242316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FIRST MERGE LEVEL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352044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SECOND MERGE LEVEL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4617720"/>
            <a:ext cx="2194560" cy="566928"/>
          </a:xfrm>
          <a:prstGeom prst="roundRect">
            <a:avLst>
              <a:gd name="adj" fmla="val 1612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FINAL MERGE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08760" y="192024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508760" y="301752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508760" y="4114800"/>
            <a:ext cx="0" cy="475488"/>
          </a:xfrm>
          <a:prstGeom prst="line">
            <a:avLst/>
          </a:prstGeom>
          <a:noFill/>
          <a:ln w="508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Cell 38"/>
          <p:cNvSpPr txBox="1"/>
          <p:nvPr/>
        </p:nvSpPr>
        <p:spPr>
          <a:xfrm>
            <a:off x="292608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11" name="Cell 27"/>
          <p:cNvSpPr txBox="1"/>
          <p:nvPr/>
        </p:nvSpPr>
        <p:spPr>
          <a:xfrm>
            <a:off x="402336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12" name="Cell 43"/>
          <p:cNvSpPr txBox="1"/>
          <p:nvPr/>
        </p:nvSpPr>
        <p:spPr>
          <a:xfrm>
            <a:off x="512064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13" name="Cell 3"/>
          <p:cNvSpPr txBox="1"/>
          <p:nvPr/>
        </p:nvSpPr>
        <p:spPr>
          <a:xfrm>
            <a:off x="621792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Cell 9"/>
          <p:cNvSpPr txBox="1"/>
          <p:nvPr/>
        </p:nvSpPr>
        <p:spPr>
          <a:xfrm>
            <a:off x="786384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15" name="Cell 82"/>
          <p:cNvSpPr txBox="1"/>
          <p:nvPr/>
        </p:nvSpPr>
        <p:spPr>
          <a:xfrm>
            <a:off x="896112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16" name="Cell 10"/>
          <p:cNvSpPr txBox="1"/>
          <p:nvPr/>
        </p:nvSpPr>
        <p:spPr>
          <a:xfrm>
            <a:off x="10058400" y="1325880"/>
            <a:ext cx="7315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17" name="Cell 27"/>
          <p:cNvSpPr txBox="1"/>
          <p:nvPr/>
        </p:nvSpPr>
        <p:spPr>
          <a:xfrm>
            <a:off x="310896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18" name="Cell 38"/>
          <p:cNvSpPr txBox="1"/>
          <p:nvPr/>
        </p:nvSpPr>
        <p:spPr>
          <a:xfrm>
            <a:off x="384048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19" name="Cell 3"/>
          <p:cNvSpPr txBox="1"/>
          <p:nvPr/>
        </p:nvSpPr>
        <p:spPr>
          <a:xfrm>
            <a:off x="530352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Cell 43"/>
          <p:cNvSpPr txBox="1"/>
          <p:nvPr/>
        </p:nvSpPr>
        <p:spPr>
          <a:xfrm>
            <a:off x="603504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21" name="Cell 9"/>
          <p:cNvSpPr txBox="1"/>
          <p:nvPr/>
        </p:nvSpPr>
        <p:spPr>
          <a:xfrm>
            <a:off x="804672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22" name="Cell 82"/>
          <p:cNvSpPr txBox="1"/>
          <p:nvPr/>
        </p:nvSpPr>
        <p:spPr>
          <a:xfrm>
            <a:off x="877824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23" name="Cell 10"/>
          <p:cNvSpPr txBox="1"/>
          <p:nvPr/>
        </p:nvSpPr>
        <p:spPr>
          <a:xfrm>
            <a:off x="10058400" y="242316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24" name="Cell 3"/>
          <p:cNvSpPr txBox="1"/>
          <p:nvPr/>
        </p:nvSpPr>
        <p:spPr>
          <a:xfrm>
            <a:off x="347472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Cell 27"/>
          <p:cNvSpPr txBox="1"/>
          <p:nvPr/>
        </p:nvSpPr>
        <p:spPr>
          <a:xfrm>
            <a:off x="420624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26" name="Cell 38"/>
          <p:cNvSpPr txBox="1"/>
          <p:nvPr/>
        </p:nvSpPr>
        <p:spPr>
          <a:xfrm>
            <a:off x="493776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27" name="Cell 43"/>
          <p:cNvSpPr txBox="1"/>
          <p:nvPr/>
        </p:nvSpPr>
        <p:spPr>
          <a:xfrm>
            <a:off x="566928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28" name="Cell 9"/>
          <p:cNvSpPr txBox="1"/>
          <p:nvPr/>
        </p:nvSpPr>
        <p:spPr>
          <a:xfrm>
            <a:off x="822960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29" name="Cell 10"/>
          <p:cNvSpPr txBox="1"/>
          <p:nvPr/>
        </p:nvSpPr>
        <p:spPr>
          <a:xfrm>
            <a:off x="896112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30" name="Cell 82"/>
          <p:cNvSpPr txBox="1"/>
          <p:nvPr/>
        </p:nvSpPr>
        <p:spPr>
          <a:xfrm>
            <a:off x="9692640" y="3520440"/>
            <a:ext cx="731520" cy="566928"/>
          </a:xfrm>
          <a:prstGeom prst="rect">
            <a:avLst/>
          </a:prstGeom>
          <a:solidFill>
            <a:srgbClr val="CCFBF1"/>
          </a:solidFill>
          <a:ln w="19050">
            <a:solidFill>
              <a:srgbClr val="14B8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31" name="Cell 3"/>
          <p:cNvSpPr txBox="1"/>
          <p:nvPr/>
        </p:nvSpPr>
        <p:spPr>
          <a:xfrm>
            <a:off x="457200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</a:t>
            </a:r>
            <a:endParaRPr lang="en-US" sz="2000" dirty="0"/>
          </a:p>
        </p:txBody>
      </p:sp>
      <p:sp>
        <p:nvSpPr>
          <p:cNvPr id="32" name="Cell 9"/>
          <p:cNvSpPr txBox="1"/>
          <p:nvPr/>
        </p:nvSpPr>
        <p:spPr>
          <a:xfrm>
            <a:off x="530352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9</a:t>
            </a:r>
            <a:endParaRPr lang="en-US" sz="2000" dirty="0"/>
          </a:p>
        </p:txBody>
      </p:sp>
      <p:sp>
        <p:nvSpPr>
          <p:cNvPr id="33" name="Cell 10"/>
          <p:cNvSpPr txBox="1"/>
          <p:nvPr/>
        </p:nvSpPr>
        <p:spPr>
          <a:xfrm>
            <a:off x="603504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10</a:t>
            </a:r>
            <a:endParaRPr lang="en-US" sz="2000" dirty="0"/>
          </a:p>
        </p:txBody>
      </p:sp>
      <p:sp>
        <p:nvSpPr>
          <p:cNvPr id="34" name="Cell 27"/>
          <p:cNvSpPr txBox="1"/>
          <p:nvPr/>
        </p:nvSpPr>
        <p:spPr>
          <a:xfrm>
            <a:off x="676656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27</a:t>
            </a:r>
            <a:endParaRPr lang="en-US" sz="2000" dirty="0"/>
          </a:p>
        </p:txBody>
      </p:sp>
      <p:sp>
        <p:nvSpPr>
          <p:cNvPr id="35" name="Cell 38"/>
          <p:cNvSpPr txBox="1"/>
          <p:nvPr/>
        </p:nvSpPr>
        <p:spPr>
          <a:xfrm>
            <a:off x="749808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38</a:t>
            </a:r>
            <a:endParaRPr lang="en-US" sz="2000" dirty="0"/>
          </a:p>
        </p:txBody>
      </p:sp>
      <p:sp>
        <p:nvSpPr>
          <p:cNvPr id="36" name="Cell 43"/>
          <p:cNvSpPr txBox="1"/>
          <p:nvPr/>
        </p:nvSpPr>
        <p:spPr>
          <a:xfrm>
            <a:off x="822960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43</a:t>
            </a:r>
            <a:endParaRPr lang="en-US" sz="2000" dirty="0"/>
          </a:p>
        </p:txBody>
      </p:sp>
      <p:sp>
        <p:nvSpPr>
          <p:cNvPr id="37" name="Cell 82"/>
          <p:cNvSpPr txBox="1"/>
          <p:nvPr/>
        </p:nvSpPr>
        <p:spPr>
          <a:xfrm>
            <a:off x="8961120" y="4617720"/>
            <a:ext cx="73152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</a:rPr>
              <a:t>82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329184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38912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8368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22960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32688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424160" y="192024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840480" y="301752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035040" y="301752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778240" y="301752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 flipH="1">
            <a:off x="10241280" y="3017520"/>
            <a:ext cx="18288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4937760" y="411480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326880" y="4114800"/>
            <a:ext cx="0" cy="475488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2651760" y="5440680"/>
            <a:ext cx="90525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txBody>
          <a:bodyPr wrap="square" lIns="177800" tIns="177800" rIns="177800" bIns="177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B1F3A"/>
                </a:solidFill>
              </a:rPr>
              <a:t>Compare the front elements of the two sorted arrays: copy the smaller one to the output, then advance that pointer.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Merge Sort Algorithm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5852160" cy="5074920"/>
          </a:xfrm>
          <a:prstGeom prst="roundRect">
            <a:avLst>
              <a:gd name="adj" fmla="val 216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EEAD4"/>
                </a:solidFill>
              </a:rPr>
              <a:t>PSEUDOCODE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(A):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length(A) &lt;= 1: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into left and right halves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=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(left)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 =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MERGE_SORT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(right)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(left, right)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30352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</a:rPr>
              <a:t>Base case: size ≤ 1 is already sorted.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CBD5E1"/>
                </a:solidFill>
              </a:rPr>
              <a:t>MERGE combines two sorted halves in O(n).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234440"/>
            <a:ext cx="1828800" cy="384048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0" y="1645920"/>
            <a:ext cx="0" cy="18288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6858000" y="1847088"/>
            <a:ext cx="2743200" cy="1005840"/>
          </a:xfrm>
          <a:prstGeom prst="diamond">
            <a:avLst/>
          </a:prstGeom>
          <a:solidFill>
            <a:srgbClr val="14B8A6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Array size &lt;= 1?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2871216"/>
            <a:ext cx="0" cy="237744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8321040" y="2852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NO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108960"/>
            <a:ext cx="29260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Divide array into two halves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566160"/>
            <a:ext cx="0" cy="22860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6766560" y="3794760"/>
            <a:ext cx="29260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Recursively sort both halves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4251960"/>
            <a:ext cx="0" cy="22860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766560" y="4480560"/>
            <a:ext cx="2926080" cy="438912"/>
          </a:xfrm>
          <a:prstGeom prst="rect">
            <a:avLst/>
          </a:prstGeom>
          <a:solidFill>
            <a:srgbClr val="14B8A6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Merge sorted halves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4937760"/>
            <a:ext cx="0" cy="22860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766560" y="5166360"/>
            <a:ext cx="2926080" cy="438912"/>
          </a:xfrm>
          <a:prstGeom prst="rect">
            <a:avLst/>
          </a:prstGeom>
          <a:solidFill>
            <a:srgbClr val="FFFFFF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Return sorted array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5623560"/>
            <a:ext cx="0" cy="22860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7315200" y="5852160"/>
            <a:ext cx="1828800" cy="384048"/>
          </a:xfrm>
          <a:prstGeom prst="ellipse">
            <a:avLst/>
          </a:prstGeom>
          <a:solidFill>
            <a:srgbClr val="0B1F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601200" y="2350008"/>
            <a:ext cx="548640" cy="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9601200" y="2029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YES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2130552"/>
            <a:ext cx="1600200" cy="438912"/>
          </a:xfrm>
          <a:prstGeom prst="rect">
            <a:avLst/>
          </a:prstGeom>
          <a:solidFill>
            <a:srgbClr val="CCFBF1"/>
          </a:solidFill>
          <a:ln w="2540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Return array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949940" y="2587752"/>
            <a:ext cx="0" cy="3456432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9144000" y="6044184"/>
            <a:ext cx="1805940" cy="0"/>
          </a:xfrm>
          <a:prstGeom prst="line">
            <a:avLst/>
          </a:prstGeom>
          <a:noFill/>
          <a:ln w="28575">
            <a:solidFill>
              <a:srgbClr val="0B1F3A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Time and Space Complexity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48463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Case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1F3A"/>
                          </a:solidFill>
                        </a:rPr>
                        <a:t>Best Case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</a:rPr>
                        <a:t>O(n log n)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1F3A"/>
                          </a:solidFill>
                        </a:rPr>
                        <a:t>Average Case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</a:rPr>
                        <a:t>O(n log n)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1F3A"/>
                          </a:solidFill>
                        </a:rPr>
                        <a:t>Worst Case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</a:rPr>
                        <a:t>O(n log n)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1F3A"/>
                          </a:solidFill>
                        </a:rPr>
                        <a:t>Auxiliary Space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F766E"/>
                          </a:solidFill>
                        </a:rPr>
                        <a:t>O(n)</a:t>
                      </a:r>
                      <a:endParaRPr lang="en-US" sz="17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4" name="Cell 38"/>
          <p:cNvSpPr txBox="1"/>
          <p:nvPr/>
        </p:nvSpPr>
        <p:spPr>
          <a:xfrm>
            <a:off x="7274052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38</a:t>
            </a:r>
            <a:endParaRPr lang="en-US" sz="1300" dirty="0"/>
          </a:p>
        </p:txBody>
      </p:sp>
      <p:sp>
        <p:nvSpPr>
          <p:cNvPr id="5" name="Cell 27"/>
          <p:cNvSpPr txBox="1"/>
          <p:nvPr/>
        </p:nvSpPr>
        <p:spPr>
          <a:xfrm>
            <a:off x="7658100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6" name="Cell 43"/>
          <p:cNvSpPr txBox="1"/>
          <p:nvPr/>
        </p:nvSpPr>
        <p:spPr>
          <a:xfrm>
            <a:off x="8042148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43</a:t>
            </a:r>
            <a:endParaRPr lang="en-US" sz="1300" dirty="0"/>
          </a:p>
        </p:txBody>
      </p:sp>
      <p:sp>
        <p:nvSpPr>
          <p:cNvPr id="7" name="Cell 3"/>
          <p:cNvSpPr txBox="1"/>
          <p:nvPr/>
        </p:nvSpPr>
        <p:spPr>
          <a:xfrm>
            <a:off x="8426196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8" name="Cell 9"/>
          <p:cNvSpPr txBox="1"/>
          <p:nvPr/>
        </p:nvSpPr>
        <p:spPr>
          <a:xfrm>
            <a:off x="8810244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9" name="Cell 82"/>
          <p:cNvSpPr txBox="1"/>
          <p:nvPr/>
        </p:nvSpPr>
        <p:spPr>
          <a:xfrm>
            <a:off x="9194292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82</a:t>
            </a:r>
            <a:endParaRPr lang="en-US" sz="1300" dirty="0"/>
          </a:p>
        </p:txBody>
      </p:sp>
      <p:sp>
        <p:nvSpPr>
          <p:cNvPr id="10" name="Cell 10"/>
          <p:cNvSpPr txBox="1"/>
          <p:nvPr/>
        </p:nvSpPr>
        <p:spPr>
          <a:xfrm>
            <a:off x="9578340" y="132588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11" name="Cell 38"/>
          <p:cNvSpPr txBox="1"/>
          <p:nvPr/>
        </p:nvSpPr>
        <p:spPr>
          <a:xfrm>
            <a:off x="6592824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38</a:t>
            </a:r>
            <a:endParaRPr lang="en-US" sz="1300" dirty="0"/>
          </a:p>
        </p:txBody>
      </p:sp>
      <p:sp>
        <p:nvSpPr>
          <p:cNvPr id="12" name="Cell 27"/>
          <p:cNvSpPr txBox="1"/>
          <p:nvPr/>
        </p:nvSpPr>
        <p:spPr>
          <a:xfrm>
            <a:off x="6976872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13" name="Cell 43"/>
          <p:cNvSpPr txBox="1"/>
          <p:nvPr/>
        </p:nvSpPr>
        <p:spPr>
          <a:xfrm>
            <a:off x="7360920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43</a:t>
            </a:r>
            <a:endParaRPr lang="en-US" sz="1300" dirty="0"/>
          </a:p>
        </p:txBody>
      </p:sp>
      <p:sp>
        <p:nvSpPr>
          <p:cNvPr id="14" name="Cell 3"/>
          <p:cNvSpPr txBox="1"/>
          <p:nvPr/>
        </p:nvSpPr>
        <p:spPr>
          <a:xfrm>
            <a:off x="7744968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Cell 9"/>
          <p:cNvSpPr txBox="1"/>
          <p:nvPr/>
        </p:nvSpPr>
        <p:spPr>
          <a:xfrm>
            <a:off x="9299448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16" name="Cell 82"/>
          <p:cNvSpPr txBox="1"/>
          <p:nvPr/>
        </p:nvSpPr>
        <p:spPr>
          <a:xfrm>
            <a:off x="9683496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82</a:t>
            </a:r>
            <a:endParaRPr lang="en-US" sz="1300" dirty="0"/>
          </a:p>
        </p:txBody>
      </p:sp>
      <p:sp>
        <p:nvSpPr>
          <p:cNvPr id="17" name="Cell 10"/>
          <p:cNvSpPr txBox="1"/>
          <p:nvPr/>
        </p:nvSpPr>
        <p:spPr>
          <a:xfrm>
            <a:off x="10067544" y="219456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18" name="Cell 38"/>
          <p:cNvSpPr txBox="1"/>
          <p:nvPr/>
        </p:nvSpPr>
        <p:spPr>
          <a:xfrm>
            <a:off x="6336792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38</a:t>
            </a:r>
            <a:endParaRPr lang="en-US" sz="1300" dirty="0"/>
          </a:p>
        </p:txBody>
      </p:sp>
      <p:sp>
        <p:nvSpPr>
          <p:cNvPr id="19" name="Cell 27"/>
          <p:cNvSpPr txBox="1"/>
          <p:nvPr/>
        </p:nvSpPr>
        <p:spPr>
          <a:xfrm>
            <a:off x="6720840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20" name="Cell 43"/>
          <p:cNvSpPr txBox="1"/>
          <p:nvPr/>
        </p:nvSpPr>
        <p:spPr>
          <a:xfrm>
            <a:off x="7616952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43</a:t>
            </a:r>
            <a:endParaRPr lang="en-US" sz="1300" dirty="0"/>
          </a:p>
        </p:txBody>
      </p:sp>
      <p:sp>
        <p:nvSpPr>
          <p:cNvPr id="21" name="Cell 3"/>
          <p:cNvSpPr txBox="1"/>
          <p:nvPr/>
        </p:nvSpPr>
        <p:spPr>
          <a:xfrm>
            <a:off x="8001000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Cell 9"/>
          <p:cNvSpPr txBox="1"/>
          <p:nvPr/>
        </p:nvSpPr>
        <p:spPr>
          <a:xfrm>
            <a:off x="9171432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23" name="Cell 82"/>
          <p:cNvSpPr txBox="1"/>
          <p:nvPr/>
        </p:nvSpPr>
        <p:spPr>
          <a:xfrm>
            <a:off x="9555480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82</a:t>
            </a:r>
            <a:endParaRPr lang="en-US" sz="1300" dirty="0"/>
          </a:p>
        </p:txBody>
      </p:sp>
      <p:sp>
        <p:nvSpPr>
          <p:cNvPr id="24" name="Cell 10"/>
          <p:cNvSpPr txBox="1"/>
          <p:nvPr/>
        </p:nvSpPr>
        <p:spPr>
          <a:xfrm>
            <a:off x="10323576" y="306324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25" name="Cell 38"/>
          <p:cNvSpPr txBox="1"/>
          <p:nvPr/>
        </p:nvSpPr>
        <p:spPr>
          <a:xfrm>
            <a:off x="620877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38</a:t>
            </a:r>
            <a:endParaRPr lang="en-US" sz="1300" dirty="0"/>
          </a:p>
        </p:txBody>
      </p:sp>
      <p:sp>
        <p:nvSpPr>
          <p:cNvPr id="26" name="Cell 27"/>
          <p:cNvSpPr txBox="1"/>
          <p:nvPr/>
        </p:nvSpPr>
        <p:spPr>
          <a:xfrm>
            <a:off x="684885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27</a:t>
            </a:r>
            <a:endParaRPr lang="en-US" sz="1300" dirty="0"/>
          </a:p>
        </p:txBody>
      </p:sp>
      <p:sp>
        <p:nvSpPr>
          <p:cNvPr id="27" name="Cell 43"/>
          <p:cNvSpPr txBox="1"/>
          <p:nvPr/>
        </p:nvSpPr>
        <p:spPr>
          <a:xfrm>
            <a:off x="748893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43</a:t>
            </a:r>
            <a:endParaRPr lang="en-US" sz="1300" dirty="0"/>
          </a:p>
        </p:txBody>
      </p:sp>
      <p:sp>
        <p:nvSpPr>
          <p:cNvPr id="28" name="Cell 3"/>
          <p:cNvSpPr txBox="1"/>
          <p:nvPr/>
        </p:nvSpPr>
        <p:spPr>
          <a:xfrm>
            <a:off x="812901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3</a:t>
            </a:r>
            <a:endParaRPr lang="en-US" sz="1300" dirty="0"/>
          </a:p>
        </p:txBody>
      </p:sp>
      <p:sp>
        <p:nvSpPr>
          <p:cNvPr id="29" name="Cell 9"/>
          <p:cNvSpPr txBox="1"/>
          <p:nvPr/>
        </p:nvSpPr>
        <p:spPr>
          <a:xfrm>
            <a:off x="904341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9</a:t>
            </a:r>
            <a:endParaRPr lang="en-US" sz="1300" dirty="0"/>
          </a:p>
        </p:txBody>
      </p:sp>
      <p:sp>
        <p:nvSpPr>
          <p:cNvPr id="30" name="Cell 82"/>
          <p:cNvSpPr txBox="1"/>
          <p:nvPr/>
        </p:nvSpPr>
        <p:spPr>
          <a:xfrm>
            <a:off x="968349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82</a:t>
            </a:r>
            <a:endParaRPr lang="en-US" sz="1300" dirty="0"/>
          </a:p>
        </p:txBody>
      </p:sp>
      <p:sp>
        <p:nvSpPr>
          <p:cNvPr id="31" name="Cell 10"/>
          <p:cNvSpPr txBox="1"/>
          <p:nvPr/>
        </p:nvSpPr>
        <p:spPr>
          <a:xfrm>
            <a:off x="10323576" y="3931920"/>
            <a:ext cx="384048" cy="411480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10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 flipH="1">
            <a:off x="7360920" y="1764792"/>
            <a:ext cx="14173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9733788" y="1764792"/>
            <a:ext cx="14173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H="1">
            <a:off x="6720840" y="2633472"/>
            <a:ext cx="100584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900416" y="2633472"/>
            <a:ext cx="100584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9555480" y="2633472"/>
            <a:ext cx="0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Shape 34"/>
          <p:cNvSpPr/>
          <p:nvPr/>
        </p:nvSpPr>
        <p:spPr>
          <a:xfrm>
            <a:off x="10222992" y="2633472"/>
            <a:ext cx="292608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 flipH="1">
            <a:off x="6400800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876288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0" name="Shape 37"/>
          <p:cNvSpPr/>
          <p:nvPr/>
        </p:nvSpPr>
        <p:spPr>
          <a:xfrm flipH="1">
            <a:off x="7680960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8156448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 flipH="1">
            <a:off x="9235440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9710928" y="3502152"/>
            <a:ext cx="164592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10479024" y="3502152"/>
            <a:ext cx="36576" cy="402336"/>
          </a:xfrm>
          <a:prstGeom prst="line">
            <a:avLst/>
          </a:prstGeom>
          <a:noFill/>
          <a:ln w="22225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45" name="Text 42"/>
          <p:cNvSpPr txBox="1"/>
          <p:nvPr/>
        </p:nvSpPr>
        <p:spPr>
          <a:xfrm>
            <a:off x="10927080" y="135331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O(n)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10927080" y="222199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O(n)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10927080" y="309067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O(n)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10927080" y="3959352"/>
            <a:ext cx="868680" cy="365760"/>
          </a:xfrm>
          <a:prstGeom prst="roundRect">
            <a:avLst>
              <a:gd name="adj" fmla="val 20000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O(n)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5897880" y="1325880"/>
            <a:ext cx="0" cy="3017520"/>
          </a:xfrm>
          <a:prstGeom prst="line">
            <a:avLst/>
          </a:prstGeom>
          <a:noFill/>
          <a:ln w="25400">
            <a:solidFill>
              <a:srgbClr val="0B1F3A"/>
            </a:solidFill>
            <a:prstDash val="solid"/>
            <a:headEnd type="triangle"/>
            <a:tailEnd type="triangle"/>
          </a:ln>
        </p:spPr>
      </p:sp>
      <p:sp>
        <p:nvSpPr>
          <p:cNvPr id="50" name="Text 47"/>
          <p:cNvSpPr txBox="1"/>
          <p:nvPr/>
        </p:nvSpPr>
        <p:spPr>
          <a:xfrm rot="16200000">
            <a:off x="4297680" y="26746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</a:rPr>
              <a:t>height ≈ log₂ n</a:t>
            </a:r>
            <a:endParaRPr lang="en-US" sz="1400" dirty="0"/>
          </a:p>
        </p:txBody>
      </p:sp>
      <p:sp>
        <p:nvSpPr>
          <p:cNvPr id="51" name="Text 48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Halving gives about log₂ n levels, and merging at each level touches every element once (O(n)). Total work = O(n) × log₂ n.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457200" y="5257800"/>
            <a:ext cx="11247120" cy="1234440"/>
          </a:xfrm>
          <a:prstGeom prst="roundRect">
            <a:avLst>
              <a:gd name="adj" fmla="val 888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7200" y="5321808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T(n) = 2T(n/2) + O(n)</a:t>
            </a:r>
            <a:endParaRPr lang="en-US" sz="34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87044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EEAD4"/>
                </a:solidFill>
              </a:rPr>
              <a:t>Therefore:  T(n) = O(n log n)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Applications of Merge Sort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94460" y="137160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5316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Large Dataset Sorting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3328416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65676" y="137160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15316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19856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External Sorting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199632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136892" y="137160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2" y="15316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91072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Linked List Sorting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9070848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2305A"/>
          </a:solidFill>
          <a:ln w="12700">
            <a:solidFill>
              <a:srgbClr val="12305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008108" y="1371600"/>
            <a:ext cx="777240" cy="7772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5316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62288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Stable Record Sorting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BD5E1"/>
                </a:solidFill>
              </a:rPr>
              <a:t>UNSORTED ARRAY</a:t>
            </a:r>
            <a:endParaRPr lang="en-US" sz="1400" dirty="0"/>
          </a:p>
        </p:txBody>
      </p:sp>
      <p:sp>
        <p:nvSpPr>
          <p:cNvPr id="20" name="Cell 38"/>
          <p:cNvSpPr txBox="1"/>
          <p:nvPr/>
        </p:nvSpPr>
        <p:spPr>
          <a:xfrm>
            <a:off x="73152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38</a:t>
            </a:r>
            <a:endParaRPr lang="en-US" sz="1800" dirty="0"/>
          </a:p>
        </p:txBody>
      </p:sp>
      <p:sp>
        <p:nvSpPr>
          <p:cNvPr id="21" name="Cell 27"/>
          <p:cNvSpPr txBox="1"/>
          <p:nvPr/>
        </p:nvSpPr>
        <p:spPr>
          <a:xfrm>
            <a:off x="128016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27</a:t>
            </a:r>
            <a:endParaRPr lang="en-US" sz="1800" dirty="0"/>
          </a:p>
        </p:txBody>
      </p:sp>
      <p:sp>
        <p:nvSpPr>
          <p:cNvPr id="22" name="Cell 43"/>
          <p:cNvSpPr txBox="1"/>
          <p:nvPr/>
        </p:nvSpPr>
        <p:spPr>
          <a:xfrm>
            <a:off x="182880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43</a:t>
            </a:r>
            <a:endParaRPr lang="en-US" sz="1800" dirty="0"/>
          </a:p>
        </p:txBody>
      </p:sp>
      <p:sp>
        <p:nvSpPr>
          <p:cNvPr id="23" name="Cell 3"/>
          <p:cNvSpPr txBox="1"/>
          <p:nvPr/>
        </p:nvSpPr>
        <p:spPr>
          <a:xfrm>
            <a:off x="237744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Cell 9"/>
          <p:cNvSpPr txBox="1"/>
          <p:nvPr/>
        </p:nvSpPr>
        <p:spPr>
          <a:xfrm>
            <a:off x="292608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9</a:t>
            </a:r>
            <a:endParaRPr lang="en-US" sz="1800" dirty="0"/>
          </a:p>
        </p:txBody>
      </p:sp>
      <p:sp>
        <p:nvSpPr>
          <p:cNvPr id="25" name="Cell 82"/>
          <p:cNvSpPr txBox="1"/>
          <p:nvPr/>
        </p:nvSpPr>
        <p:spPr>
          <a:xfrm>
            <a:off x="347472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82</a:t>
            </a:r>
            <a:endParaRPr lang="en-US" sz="1800" dirty="0"/>
          </a:p>
        </p:txBody>
      </p:sp>
      <p:sp>
        <p:nvSpPr>
          <p:cNvPr id="26" name="Cell 10"/>
          <p:cNvSpPr txBox="1"/>
          <p:nvPr/>
        </p:nvSpPr>
        <p:spPr>
          <a:xfrm>
            <a:off x="4023360" y="3566160"/>
            <a:ext cx="54864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B1F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10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5029200" y="3566160"/>
            <a:ext cx="2103120" cy="566928"/>
          </a:xfrm>
          <a:prstGeom prst="rightArrow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589520" y="3200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</a:rPr>
              <a:t>SORTED ARRAY</a:t>
            </a:r>
            <a:endParaRPr lang="en-US" sz="1400" dirty="0"/>
          </a:p>
        </p:txBody>
      </p:sp>
      <p:sp>
        <p:nvSpPr>
          <p:cNvPr id="29" name="Cell 3"/>
          <p:cNvSpPr txBox="1"/>
          <p:nvPr/>
        </p:nvSpPr>
        <p:spPr>
          <a:xfrm>
            <a:off x="758952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3</a:t>
            </a:r>
            <a:endParaRPr lang="en-US" sz="1800" dirty="0"/>
          </a:p>
        </p:txBody>
      </p:sp>
      <p:sp>
        <p:nvSpPr>
          <p:cNvPr id="30" name="Cell 9"/>
          <p:cNvSpPr txBox="1"/>
          <p:nvPr/>
        </p:nvSpPr>
        <p:spPr>
          <a:xfrm>
            <a:off x="813816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9</a:t>
            </a:r>
            <a:endParaRPr lang="en-US" sz="1800" dirty="0"/>
          </a:p>
        </p:txBody>
      </p:sp>
      <p:sp>
        <p:nvSpPr>
          <p:cNvPr id="31" name="Cell 10"/>
          <p:cNvSpPr txBox="1"/>
          <p:nvPr/>
        </p:nvSpPr>
        <p:spPr>
          <a:xfrm>
            <a:off x="868680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10</a:t>
            </a:r>
            <a:endParaRPr lang="en-US" sz="1800" dirty="0"/>
          </a:p>
        </p:txBody>
      </p:sp>
      <p:sp>
        <p:nvSpPr>
          <p:cNvPr id="32" name="Cell 27"/>
          <p:cNvSpPr txBox="1"/>
          <p:nvPr/>
        </p:nvSpPr>
        <p:spPr>
          <a:xfrm>
            <a:off x="923544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27</a:t>
            </a:r>
            <a:endParaRPr lang="en-US" sz="1800" dirty="0"/>
          </a:p>
        </p:txBody>
      </p:sp>
      <p:sp>
        <p:nvSpPr>
          <p:cNvPr id="33" name="Cell 38"/>
          <p:cNvSpPr txBox="1"/>
          <p:nvPr/>
        </p:nvSpPr>
        <p:spPr>
          <a:xfrm>
            <a:off x="978408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38</a:t>
            </a:r>
            <a:endParaRPr lang="en-US" sz="1800" dirty="0"/>
          </a:p>
        </p:txBody>
      </p:sp>
      <p:sp>
        <p:nvSpPr>
          <p:cNvPr id="34" name="Cell 43"/>
          <p:cNvSpPr txBox="1"/>
          <p:nvPr/>
        </p:nvSpPr>
        <p:spPr>
          <a:xfrm>
            <a:off x="1033272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43</a:t>
            </a:r>
            <a:endParaRPr lang="en-US" sz="1800" dirty="0"/>
          </a:p>
        </p:txBody>
      </p:sp>
      <p:sp>
        <p:nvSpPr>
          <p:cNvPr id="35" name="Cell 82"/>
          <p:cNvSpPr txBox="1"/>
          <p:nvPr/>
        </p:nvSpPr>
        <p:spPr>
          <a:xfrm>
            <a:off x="10881360" y="3566160"/>
            <a:ext cx="548640" cy="566928"/>
          </a:xfrm>
          <a:prstGeom prst="rect">
            <a:avLst/>
          </a:prstGeom>
          <a:solidFill>
            <a:srgbClr val="14B8A6"/>
          </a:solidFill>
          <a:ln w="19050">
            <a:solidFill>
              <a:srgbClr val="0B7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</a:rPr>
              <a:t>82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731520" y="4480560"/>
            <a:ext cx="10725912" cy="1005840"/>
          </a:xfrm>
          <a:prstGeom prst="roundRect">
            <a:avLst>
              <a:gd name="adj" fmla="val 9091"/>
            </a:avLst>
          </a:prstGeom>
          <a:solidFill>
            <a:srgbClr val="12305A"/>
          </a:solidFill>
          <a:ln/>
        </p:spPr>
        <p:txBody>
          <a:bodyPr wrap="square" lIns="2540" tIns="2540" rIns="2540" bIns="254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FFFFFF"/>
                </a:solidFill>
              </a:rPr>
              <a:t>“Merge Sort is a stable Divide and Conquer algorithm with O(n log n) time complexity in the best, average, and worst cases.”</a:t>
            </a:r>
            <a:endParaRPr lang="en-US" sz="190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57150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5EEAD4"/>
                </a:solidFill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geSortNavyTeal">
  <a:themeElements>
    <a:clrScheme name="MergeSortNavyTeal">
      <a:dk1>
        <a:srgbClr val="0B1F3A"/>
      </a:dk1>
      <a:lt1>
        <a:srgbClr val="FFFFFF"/>
      </a:lt1>
      <a:dk2>
        <a:srgbClr val="12305A"/>
      </a:dk2>
      <a:lt2>
        <a:srgbClr val="F1F5F9"/>
      </a:lt2>
      <a:accent1>
        <a:srgbClr val="14B8A6"/>
      </a:accent1>
      <a:accent2>
        <a:srgbClr val="0F766E"/>
      </a:accent2>
      <a:accent3>
        <a:srgbClr val="CCFBF1"/>
      </a:accent3>
      <a:accent4>
        <a:srgbClr val="475569"/>
      </a:accent4>
      <a:accent5>
        <a:srgbClr val="94A3B8"/>
      </a:accent5>
      <a:accent6>
        <a:srgbClr val="12305A"/>
      </a:accent6>
      <a:hlink>
        <a:srgbClr val="14B8A6"/>
      </a:hlink>
      <a:folHlink>
        <a:srgbClr val="475569"/>
      </a:folHlink>
    </a:clrScheme>
    <a:fontScheme name="MergeSortNavyTe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 Sort — A Divide and Conquer Algorithm</dc:title>
  <dc:subject>PptxGenJS Presentation</dc:subject>
  <dc:creator>Sampada Suryawanshi</dc:creator>
  <cp:lastModifiedBy>Sampada Suryawanshi</cp:lastModifiedBy>
  <cp:revision>1</cp:revision>
  <dcterms:created xsi:type="dcterms:W3CDTF">2026-10-19T10:09:09Z</dcterms:created>
  <dcterms:modified xsi:type="dcterms:W3CDTF">2026-10-19T10:09:09Z</dcterms:modified>
</cp:coreProperties>
</file>